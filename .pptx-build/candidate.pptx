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4ebe9cc864981" /><Relationship Type="http://schemas.openxmlformats.org/officeDocument/2006/relationships/extended-properties" Target="/docProps/app.xml" Id="R32d7120133354f59" /><Relationship Type="http://schemas.openxmlformats.org/officeDocument/2006/relationships/officeDocument" Target="/ppt/presentation.xml" Id="Rfc29af0290f940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049776cdb4fe7"/>
  </p:sldMasterIdLst>
  <p:notesMasterIdLst>
    <p:notesMasterId xmlns:r="http://schemas.openxmlformats.org/officeDocument/2006/relationships" r:id="R8b19950878d944f2"/>
  </p:notesMasterIdLst>
  <p:sldIdLst>
    <p:sldId xmlns:r="http://schemas.openxmlformats.org/officeDocument/2006/relationships" id="256" r:id="R39c966de88394dd6"/>
    <p:sldId xmlns:r="http://schemas.openxmlformats.org/officeDocument/2006/relationships" id="257" r:id="Rb1cfb37530e54de7"/>
    <p:sldId xmlns:r="http://schemas.openxmlformats.org/officeDocument/2006/relationships" id="258" r:id="R6e8b95a4eb2a4522"/>
    <p:sldId xmlns:r="http://schemas.openxmlformats.org/officeDocument/2006/relationships" id="259" r:id="R9ec4eb4c2aac4f47"/>
    <p:sldId xmlns:r="http://schemas.openxmlformats.org/officeDocument/2006/relationships" id="260" r:id="R31cdeff4d17f402c"/>
    <p:sldId xmlns:r="http://schemas.openxmlformats.org/officeDocument/2006/relationships" id="261" r:id="R1de106fff0234d2a"/>
    <p:sldId xmlns:r="http://schemas.openxmlformats.org/officeDocument/2006/relationships" id="262" r:id="Ra80345ec4ab54f42"/>
    <p:sldId xmlns:r="http://schemas.openxmlformats.org/officeDocument/2006/relationships" id="263" r:id="R35d5b226e58540da"/>
    <p:sldId xmlns:r="http://schemas.openxmlformats.org/officeDocument/2006/relationships" id="264" r:id="Rcbe2e8156941402f"/>
    <p:sldId xmlns:r="http://schemas.openxmlformats.org/officeDocument/2006/relationships" id="265" r:id="Rdc1dd4af14b749f9"/>
    <p:sldId xmlns:r="http://schemas.openxmlformats.org/officeDocument/2006/relationships" id="266" r:id="R4609277d58974b5f"/>
    <p:sldId xmlns:r="http://schemas.openxmlformats.org/officeDocument/2006/relationships" id="267" r:id="R6efc9be04a1244b3"/>
    <p:sldId xmlns:r="http://schemas.openxmlformats.org/officeDocument/2006/relationships" id="268" r:id="R146bd98bae1a4aab"/>
    <p:sldId xmlns:r="http://schemas.openxmlformats.org/officeDocument/2006/relationships" id="269" r:id="R35fb270b3cad45bb"/>
    <p:sldId xmlns:r="http://schemas.openxmlformats.org/officeDocument/2006/relationships" id="270" r:id="R384d13a4ac654216"/>
    <p:sldId xmlns:r="http://schemas.openxmlformats.org/officeDocument/2006/relationships" id="271" r:id="R08729368b22b45b5"/>
    <p:sldId xmlns:r="http://schemas.openxmlformats.org/officeDocument/2006/relationships" id="272" r:id="Rad360f788d714018"/>
    <p:sldId xmlns:r="http://schemas.openxmlformats.org/officeDocument/2006/relationships" id="273" r:id="R490081fb53514c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a65939d8144b8" /><Relationship Type="http://schemas.openxmlformats.org/officeDocument/2006/relationships/slideMaster" Target="/ppt/slideMasters/slideMaster1.xml" Id="R821049776cdb4fe7" /><Relationship Type="http://schemas.openxmlformats.org/officeDocument/2006/relationships/notesMaster" Target="/ppt/notesMasters/notesMaster1.xml" Id="R8b19950878d944f2" /><Relationship Type="http://schemas.openxmlformats.org/officeDocument/2006/relationships/presProps" Target="/ppt/presProps.xml" Id="Rc5841d45c3c0428b" /><Relationship Type="http://schemas.openxmlformats.org/officeDocument/2006/relationships/tableStyles" Target="/ppt/tableStyles.xml" Id="Rfe4aa2460f274e51" /><Relationship Type="http://schemas.openxmlformats.org/officeDocument/2006/relationships/slide" Target="/ppt/slides/slide1.xml" Id="R39c966de88394dd6" /><Relationship Type="http://schemas.openxmlformats.org/officeDocument/2006/relationships/slide" Target="/ppt/slides/slide2.xml" Id="Rb1cfb37530e54de7" /><Relationship Type="http://schemas.openxmlformats.org/officeDocument/2006/relationships/slide" Target="/ppt/slides/slide3.xml" Id="R6e8b95a4eb2a4522" /><Relationship Type="http://schemas.openxmlformats.org/officeDocument/2006/relationships/slide" Target="/ppt/slides/slide4.xml" Id="R9ec4eb4c2aac4f47" /><Relationship Type="http://schemas.openxmlformats.org/officeDocument/2006/relationships/slide" Target="/ppt/slides/slide5.xml" Id="R31cdeff4d17f402c" /><Relationship Type="http://schemas.openxmlformats.org/officeDocument/2006/relationships/slide" Target="/ppt/slides/slide6.xml" Id="R1de106fff0234d2a" /><Relationship Type="http://schemas.openxmlformats.org/officeDocument/2006/relationships/slide" Target="/ppt/slides/slide7.xml" Id="Ra80345ec4ab54f42" /><Relationship Type="http://schemas.openxmlformats.org/officeDocument/2006/relationships/slide" Target="/ppt/slides/slide8.xml" Id="R35d5b226e58540da" /><Relationship Type="http://schemas.openxmlformats.org/officeDocument/2006/relationships/slide" Target="/ppt/slides/slide9.xml" Id="Rcbe2e8156941402f" /><Relationship Type="http://schemas.openxmlformats.org/officeDocument/2006/relationships/slide" Target="/ppt/slides/slide10.xml" Id="Rdc1dd4af14b749f9" /><Relationship Type="http://schemas.openxmlformats.org/officeDocument/2006/relationships/slide" Target="/ppt/slides/slide11.xml" Id="R4609277d58974b5f" /><Relationship Type="http://schemas.openxmlformats.org/officeDocument/2006/relationships/slide" Target="/ppt/slides/slide12.xml" Id="R6efc9be04a1244b3" /><Relationship Type="http://schemas.openxmlformats.org/officeDocument/2006/relationships/slide" Target="/ppt/slides/slide13.xml" Id="R146bd98bae1a4aab" /><Relationship Type="http://schemas.openxmlformats.org/officeDocument/2006/relationships/slide" Target="/ppt/slides/slide14.xml" Id="R35fb270b3cad45bb" /><Relationship Type="http://schemas.openxmlformats.org/officeDocument/2006/relationships/slide" Target="/ppt/slides/slide15.xml" Id="R384d13a4ac654216" /><Relationship Type="http://schemas.openxmlformats.org/officeDocument/2006/relationships/slide" Target="/ppt/slides/slide16.xml" Id="R08729368b22b45b5" /><Relationship Type="http://schemas.openxmlformats.org/officeDocument/2006/relationships/slide" Target="/ppt/slides/slide17.xml" Id="Rad360f788d714018" /><Relationship Type="http://schemas.openxmlformats.org/officeDocument/2006/relationships/slide" Target="/ppt/slides/slide18.xml" Id="R490081fb53514c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6cce9881fe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2a2f6905548e5" /><Relationship Type="http://schemas.openxmlformats.org/officeDocument/2006/relationships/notesMaster" Target="/ppt/notesMasters/notesMaster1.xml" Id="R1a111c47058a40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7f3373aca44c3" /><Relationship Type="http://schemas.openxmlformats.org/officeDocument/2006/relationships/notesMaster" Target="/ppt/notesMasters/notesMaster1.xml" Id="R8ca20aeb2c8048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92608e7ec4da4" /><Relationship Type="http://schemas.openxmlformats.org/officeDocument/2006/relationships/notesMaster" Target="/ppt/notesMasters/notesMaster1.xml" Id="Rfcaa6c5026dc42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4e6f88425d4ba6" /><Relationship Type="http://schemas.openxmlformats.org/officeDocument/2006/relationships/notesMaster" Target="/ppt/notesMasters/notesMaster1.xml" Id="R45f3a0caf70f46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6e1d97a5bc43c2" /><Relationship Type="http://schemas.openxmlformats.org/officeDocument/2006/relationships/notesMaster" Target="/ppt/notesMasters/notesMaster1.xml" Id="R2494144dcd6c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bce8fe9ea145ab" /><Relationship Type="http://schemas.openxmlformats.org/officeDocument/2006/relationships/notesMaster" Target="/ppt/notesMasters/notesMaster1.xml" Id="Re2d33910bbd4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83b27b98c4e0e" /><Relationship Type="http://schemas.openxmlformats.org/officeDocument/2006/relationships/notesMaster" Target="/ppt/notesMasters/notesMaster1.xml" Id="R2361dad6a832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1b5c6f08f54a4a" /><Relationship Type="http://schemas.openxmlformats.org/officeDocument/2006/relationships/notesMaster" Target="/ppt/notesMasters/notesMaster1.xml" Id="R81d66198de32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dbc96acb6444f" /><Relationship Type="http://schemas.openxmlformats.org/officeDocument/2006/relationships/notesMaster" Target="/ppt/notesMasters/notesMaster1.xml" Id="Rf1737e4ea17e4f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3ce8be59404804" /><Relationship Type="http://schemas.openxmlformats.org/officeDocument/2006/relationships/notesMaster" Target="/ppt/notesMasters/notesMaster1.xml" Id="Rbdf33c42736340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30eb5bdfc8424f" /><Relationship Type="http://schemas.openxmlformats.org/officeDocument/2006/relationships/notesMaster" Target="/ppt/notesMasters/notesMaster1.xml" Id="R191bdc930b6d48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2b49931ca946ed" /><Relationship Type="http://schemas.openxmlformats.org/officeDocument/2006/relationships/notesMaster" Target="/ppt/notesMasters/notesMaster1.xml" Id="R0c51fff0ca9f42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073851d1904a73" /><Relationship Type="http://schemas.openxmlformats.org/officeDocument/2006/relationships/notesMaster" Target="/ppt/notesMasters/notesMaster1.xml" Id="R7bd1406618ad48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bed086b255464d" /><Relationship Type="http://schemas.openxmlformats.org/officeDocument/2006/relationships/notesMaster" Target="/ppt/notesMasters/notesMaster1.xml" Id="Rd42bb00bf13a4d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deaa940b8b4e2c" /><Relationship Type="http://schemas.openxmlformats.org/officeDocument/2006/relationships/notesMaster" Target="/ppt/notesMasters/notesMaster1.xml" Id="R24a8e063627c49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0c8a14ee384966" /><Relationship Type="http://schemas.openxmlformats.org/officeDocument/2006/relationships/notesMaster" Target="/ppt/notesMasters/notesMaster1.xml" Id="R59ec7b90a5fa4c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d2aa10c0934260" /><Relationship Type="http://schemas.openxmlformats.org/officeDocument/2006/relationships/notesMaster" Target="/ppt/notesMasters/notesMaster1.xml" Id="R0aac86105bfb45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d5fa482dd34468" /><Relationship Type="http://schemas.openxmlformats.org/officeDocument/2006/relationships/notesMaster" Target="/ppt/notesMasters/notesMaster1.xml" Id="R4cac515d6e474d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Презентация включает все 10 фотографий из последней согласованной подборки. Источники указаны в заметках к соответствующим слайдам.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01: https://electrik.info/main/master/1671-iskrenie-kontaktov-rele-i-puskateley.html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На контактной накладке виден тёмный участок с неровной поверхностью.</a:t>
            </a:r>
          </a:p>
          <a:p xmlns:a="http://schemas.openxmlformats.org/drawingml/2006/main">
            <a:r>
              <a:t>Состояние обеих контактных поверхностей, нажатие и допустимый износ по документации.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10: https://www.kreativekiste.de/component/content/article?id=92%3Aschuetze-aufbau-und-funktion-einfach-erklaert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Верхняя деталь потемнела. На нижней лучше различимы рабочие поверхности.</a:t>
            </a:r>
          </a:p>
          <a:p xmlns:a="http://schemas.openxmlformats.org/drawingml/2006/main">
            <a:r>
              <a:t>Износ накладок, состояние пружин и соответствие аппарата характеру нагрузки.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02: https://om-ek.ru/index.php?oct_blog_article_id=79&amp;route=octemplates%2Fblog_article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На разобранных деталях видны потемнение и неровности контактных участков.</a:t>
            </a:r>
          </a:p>
          <a:p xmlns:a="http://schemas.openxmlformats.org/drawingml/2006/main">
            <a:r>
              <a:t>Целостность деталей, состояние креплений и возможность замены контактного узла.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03: https://prokazan.ru/interesnoe/view/sekonomili-na-avtomatah-poterali-kvartiru-kakie-osibki-v-novoj-provodke-case-vsego-privodat-k-pozaram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Корпус возле зажима сильно разрушен. Повреждение выходит за пределы поверхности контакта.</a:t>
            </a:r>
          </a:p>
          <a:p xmlns:a="http://schemas.openxmlformats.org/drawingml/2006/main">
            <a:r>
              <a:t>Состояние проводника и соединения, нагрузку и пригодность аппарата к дальнейшей работе.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04: https://forum.autoua.net/showflat.php?Cat=0&amp;Number=10739370&amp;fpart=all&amp;page=..&amp;vc=1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Возле нижнего левого зажима правого аппарата видны почернение и повреждение изоляции.</a:t>
            </a:r>
          </a:p>
          <a:p xmlns:a="http://schemas.openxmlformats.org/drawingml/2006/main">
            <a:r>
              <a:t>Качество оконцевания, состояние жилы и зажима, соответствие проводника нагрузке.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05: https://www.fujielectric.co.jp/fcs/the_switch/vol16/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В средней части обмотки виден обугленный участок и разрушение изоляционного материала.</a:t>
            </a:r>
          </a:p>
          <a:p xmlns:a="http://schemas.openxmlformats.org/drawingml/2006/main">
            <a:r>
              <a:t>Напряжение питания, режим работы, свободное перемещение и прилегание магнитной системы.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06: https://www.amt.nl/60939/diagnose-aan-een-epb-module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Рамка на исходной фотографии выделяет контактный узел со следами перегрева и оплавления.</a:t>
            </a:r>
          </a:p>
          <a:p xmlns:a="http://schemas.openxmlformats.org/drawingml/2006/main">
            <a:r>
              <a:t>Переключение контактов, допустимую нагрузку и состояние управляемой цепи.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07: https://www.goo-net.com/pit/shop/0127634/blog/192352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Между выводами видна обугленная полость. Изоляционное основание потеряло целостность.</a:t>
            </a:r>
          </a:p>
          <a:p xmlns:a="http://schemas.openxmlformats.org/drawingml/2006/main">
            <a:r>
              <a:t>Также осматривают ответную колодку, зажимы и проводники. Повреждённое реле заменяют.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08: https://fotos.habitissimo.es/foto/contactor-de-potencia-quemado_252104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Потемнение корпуса и повреждённые соединения заметны в нижней части аппарата.</a:t>
            </a:r>
          </a:p>
          <a:p xmlns:a="http://schemas.openxmlformats.org/drawingml/2006/main">
            <a:r>
              <a:t>Контактор, наконечники и кабели, а также нагрузку и условия эксплуатации.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Фото 09: https://www.elektro.info.pl/artykul/jakosc-energii-elektrycznej/188083%2Czagrozenia-pozarowe-stwarzane-przez-uklady-kompensacji-mocy-biernej-czesc-1</a:t>
            </a:r>
          </a:p>
          <a:p xmlns:a="http://schemas.openxmlformats.org/drawingml/2006/main">
            <a:r>
              <a:t>Показать внешний признак, затем обсудить возможные причины. Причина конкретного отказа требует проверки.</a:t>
            </a:r>
          </a:p>
          <a:p xmlns:a="http://schemas.openxmlformats.org/drawingml/2006/main">
            <a:r>
              <a:t>Слева видны зелёные отложения на оголённых жилах. Поверхности аппаратов загрязнены.</a:t>
            </a:r>
          </a:p>
          <a:p xmlns:a="http://schemas.openxmlformats.org/drawingml/2006/main">
            <a:r>
              <a:t>Состояние жил и изоляции, герметичность шкафа и наличие влаги или агрессивной среды.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 Электробазы: 1ЭО-24, МДК 04.02, 3-й семестр. Лекция «Неисправности электрических аппаратов и способы их устранения. Испытания и наладка электрических аппаратов». Числовой расчёт исключён по согласованию.</a:t>
            </a:r>
          </a:p>
          <a:p xmlns:a="http://schemas.openxmlformats.org/drawingml/2006/main">
            <a:r>
              <a:t>Обсудить связь внешнего признака, проверяемой гипотезы и результата измерения. Источники фотографий приведены в заметках слайдов 3–12.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0a7eed4a043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151d5033641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6ed17758a40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076efe2264c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3c5b8286049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637b4a721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AC4C4C-681D-47A5-BD15-EAF8724F6C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AFA9B-82F3-4405-8DC3-B8AEF44149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3C089B-63EF-43FE-AED7-CF281BF32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AED7C-7072-4BE4-AE0D-6CAB75FC0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76C44F-3CC9-4659-9B3A-28D734972A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3AA422-AFAD-496D-9001-E48B489AA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3D1DE7-8468-4906-837B-93A9481C0B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CB8BF4-67FD-4AC0-A45E-5F6DA5882A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3A848C-FA35-481A-869A-AF9B329B17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E33B8-E27C-4AF3-9D43-5D66E25F6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9fd00b477342e0" /><Relationship Type="http://schemas.openxmlformats.org/officeDocument/2006/relationships/slideLayout" Target="/ppt/slideLayouts/slideLayout1.xml" Id="Rd1af69365af44b19" /><Relationship Type="http://schemas.openxmlformats.org/officeDocument/2006/relationships/slideLayout" Target="/ppt/slideLayouts/slideLayout2.xml" Id="Ra64f973244654034" /><Relationship Type="http://schemas.openxmlformats.org/officeDocument/2006/relationships/slideLayout" Target="/ppt/slideLayouts/slideLayout3.xml" Id="Rbd043ed751504317" /><Relationship Type="http://schemas.openxmlformats.org/officeDocument/2006/relationships/slideLayout" Target="/ppt/slideLayouts/slideLayout4.xml" Id="Ra5101f5b1cce4803" /><Relationship Type="http://schemas.openxmlformats.org/officeDocument/2006/relationships/slideLayout" Target="/ppt/slideLayouts/slideLayout5.xml" Id="Rea341bc9791b4971" /><Relationship Type="http://schemas.openxmlformats.org/officeDocument/2006/relationships/slideLayout" Target="/ppt/slideLayouts/slideLayout6.xml" Id="R3920d0f250f2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f69365af44b19"/>
    <p:sldLayoutId xmlns:r="http://schemas.openxmlformats.org/officeDocument/2006/relationships" id="2147483650" r:id="Ra64f973244654034"/>
    <p:sldLayoutId xmlns:r="http://schemas.openxmlformats.org/officeDocument/2006/relationships" id="2147483651" r:id="Rbd043ed751504317"/>
    <p:sldLayoutId xmlns:r="http://schemas.openxmlformats.org/officeDocument/2006/relationships" id="2147483652" r:id="Ra5101f5b1cce4803"/>
    <p:sldLayoutId xmlns:r="http://schemas.openxmlformats.org/officeDocument/2006/relationships" id="2147483653" r:id="Rea341bc9791b4971"/>
    <p:sldLayoutId xmlns:r="http://schemas.openxmlformats.org/officeDocument/2006/relationships" id="2147483654" r:id="R3920d0f250f2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d56b7782d427b" /><Relationship Type="http://schemas.openxmlformats.org/officeDocument/2006/relationships/notesSlide" Target="/ppt/notesSlides/notesSlide1.xml" Id="Rc37316a4da7d4d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b635235fb4e74" /><Relationship Type="http://schemas.openxmlformats.org/officeDocument/2006/relationships/notesSlide" Target="/ppt/notesSlides/notesSlide2.xml" Id="R8af75179ea4f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6622a59454164" /><Relationship Type="http://schemas.openxmlformats.org/officeDocument/2006/relationships/image" Target="/ppt/media/image.jpeg" Id="Rf3af2ea405d44937" /><Relationship Type="http://schemas.openxmlformats.org/officeDocument/2006/relationships/notesSlide" Target="/ppt/notesSlides/notesSlide3.xml" Id="R438fe269fd864d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d8a172d5b455d" /><Relationship Type="http://schemas.openxmlformats.org/officeDocument/2006/relationships/image" Target="/ppt/media/image2.jpeg" Id="R019ee6a588de4e5f" /><Relationship Type="http://schemas.openxmlformats.org/officeDocument/2006/relationships/notesSlide" Target="/ppt/notesSlides/notesSlide4.xml" Id="R720d3b6d6d4b4d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8ebc7a9f14931" /><Relationship Type="http://schemas.openxmlformats.org/officeDocument/2006/relationships/image" Target="/ppt/media/image.png" Id="Re8bb42f8996b44f2" /><Relationship Type="http://schemas.openxmlformats.org/officeDocument/2006/relationships/notesSlide" Target="/ppt/notesSlides/notesSlide5.xml" Id="Re7c942231745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91a752628246a6" /><Relationship Type="http://schemas.openxmlformats.org/officeDocument/2006/relationships/image" Target="/ppt/media/image3.jpeg" Id="R1068d338aa1d4747" /><Relationship Type="http://schemas.openxmlformats.org/officeDocument/2006/relationships/notesSlide" Target="/ppt/notesSlides/notesSlide6.xml" Id="R772ecb148f94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3bad3362d842e1" /><Relationship Type="http://schemas.openxmlformats.org/officeDocument/2006/relationships/image" Target="/ppt/media/image4.jpeg" Id="Rb252d756ee07461e" /><Relationship Type="http://schemas.openxmlformats.org/officeDocument/2006/relationships/notesSlide" Target="/ppt/notesSlides/notesSlide7.xml" Id="Raca784f73cb346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88d31eb484115" /><Relationship Type="http://schemas.openxmlformats.org/officeDocument/2006/relationships/image" Target="/ppt/media/image5.jpeg" Id="Rc268cc233ce94eb8" /><Relationship Type="http://schemas.openxmlformats.org/officeDocument/2006/relationships/notesSlide" Target="/ppt/notesSlides/notesSlide8.xml" Id="R9cfa9a34d6d248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99e9978f14c85" /><Relationship Type="http://schemas.openxmlformats.org/officeDocument/2006/relationships/image" Target="/ppt/media/image6.jpeg" Id="R1b5446bc19074424" /><Relationship Type="http://schemas.openxmlformats.org/officeDocument/2006/relationships/notesSlide" Target="/ppt/notesSlides/notesSlide9.xml" Id="R05f759eeea544d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b7586b71940a3" /><Relationship Type="http://schemas.openxmlformats.org/officeDocument/2006/relationships/image" Target="/ppt/media/image7.jpeg" Id="Rdd8da2bc8e2b4a7c" /><Relationship Type="http://schemas.openxmlformats.org/officeDocument/2006/relationships/notesSlide" Target="/ppt/notesSlides/notesSlide10.xml" Id="R145d1eaf66a74e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8cc103b43b4f6e" /><Relationship Type="http://schemas.openxmlformats.org/officeDocument/2006/relationships/image" Target="/ppt/media/image8.jpeg" Id="Rd5f5186aae8943de" /><Relationship Type="http://schemas.openxmlformats.org/officeDocument/2006/relationships/notesSlide" Target="/ppt/notesSlides/notesSlide11.xml" Id="Rd16554cce270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37f05f1d284184" /><Relationship Type="http://schemas.openxmlformats.org/officeDocument/2006/relationships/image" Target="/ppt/media/image9.jpeg" Id="R948d2e3853444788" /><Relationship Type="http://schemas.openxmlformats.org/officeDocument/2006/relationships/notesSlide" Target="/ppt/notesSlides/notesSlide12.xml" Id="R83c4890ca9e849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3a9b2f594455e" /><Relationship Type="http://schemas.openxmlformats.org/officeDocument/2006/relationships/notesSlide" Target="/ppt/notesSlides/notesSlide13.xml" Id="R32949af155444e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f687680cf4ed1" /><Relationship Type="http://schemas.openxmlformats.org/officeDocument/2006/relationships/notesSlide" Target="/ppt/notesSlides/notesSlide14.xml" Id="R0aadd9d94a4c4a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67ed174b4405d" /><Relationship Type="http://schemas.openxmlformats.org/officeDocument/2006/relationships/notesSlide" Target="/ppt/notesSlides/notesSlide15.xml" Id="R936238c34fbe488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4c92ba68845d3" /><Relationship Type="http://schemas.openxmlformats.org/officeDocument/2006/relationships/notesSlide" Target="/ppt/notesSlides/notesSlide16.xml" Id="R15826e044a354d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ed2780c8b4145" /><Relationship Type="http://schemas.openxmlformats.org/officeDocument/2006/relationships/notesSlide" Target="/ppt/notesSlides/notesSlide17.xml" Id="R4852ff7f67c242f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54d05c19548fa" /><Relationship Type="http://schemas.openxmlformats.org/officeDocument/2006/relationships/notesSlide" Target="/ppt/notesSlides/notesSlide18.xml" Id="R82c6b2861c074e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1ЭО-24   МДК 04.02   3-й семестр">
            <a:extLst xmlns:a="http://schemas.openxmlformats.org/drawingml/2006/main">
              <a:ext uri="{FF2B5EF4-FFF2-40B4-BE49-F238E27FC236}">
                <a16:creationId xmlns:a16="http://schemas.microsoft.com/office/drawing/2014/main" id="{BAC5A4B3-26B7-4017-8291-7D2E1E9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BFD6D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D6D5"/>
                </a:solidFill>
                <a:latin typeface="Arial"/>
                <a:ea typeface="Arial"/>
                <a:cs typeface="Arial"/>
              </a:rPr>
              <a:t>1ЭО-24   МДК 04.02   3-й семестр</a:t>
            </a:r>
          </a:p>
        </p:txBody>
      </p:sp>
      <p:sp>
        <p:nvSpPr>
          <p:cNvPr id="2" name="Неисправности&#10;электрических аппаратов&#10;и способы их">
            <a:extLst xmlns:a="http://schemas.openxmlformats.org/drawingml/2006/main">
              <a:ext uri="{FF2B5EF4-FFF2-40B4-BE49-F238E27FC236}">
                <a16:creationId xmlns:a16="http://schemas.microsoft.com/office/drawing/2014/main" id="{1DACDACF-4881-421A-B92C-FA44050A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Неисправности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электрических аппаратов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способы их устранения</a:t>
            </a:r>
          </a:p>
        </p:txBody>
      </p:sp>
      <p:sp>
        <p:nvSpPr>
          <p:cNvPr id="3" name="Испытания и наладка&#10;электрических аппаратов">
            <a:extLst xmlns:a="http://schemas.openxmlformats.org/drawingml/2006/main">
              <a:ext uri="{FF2B5EF4-FFF2-40B4-BE49-F238E27FC236}">
                <a16:creationId xmlns:a16="http://schemas.microsoft.com/office/drawing/2014/main" id="{488F2387-5318-4782-9771-64B58C41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E1ECEA"/>
                </a:solidFill>
                <a:latin typeface="Arial"/>
                <a:ea typeface="Arial"/>
                <a:cs typeface="Arial"/>
              </a:rPr>
              <a:t>Испытания и наладка</a:t>
            </a:r>
          </a:p>
          <a:p xmlns:a="http://schemas.openxmlformats.org/drawingml/2006/main">
            <a:pPr algn="l">
              <a:defRPr sz="2925" b="0">
                <a:solidFill>
                  <a:srgbClr val="E1ECEA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E1ECEA"/>
                </a:solidFill>
                <a:latin typeface="Arial"/>
                <a:ea typeface="Arial"/>
                <a:cs typeface="Arial"/>
              </a:rPr>
              <a:t>электрических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1496291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Что позволяет увидеть внешний осмотр">
            <a:extLst xmlns:a="http://schemas.openxmlformats.org/drawingml/2006/main">
              <a:ext uri="{FF2B5EF4-FFF2-40B4-BE49-F238E27FC236}">
                <a16:creationId xmlns:a16="http://schemas.microsoft.com/office/drawing/2014/main" id="{0F8325AB-C552-48E7-8ACF-EBA9BAE2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Что позволяет увидеть внешний осмотр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D3700793-3E33-4353-93CD-941CEE6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Контакты">
            <a:extLst xmlns:a="http://schemas.openxmlformats.org/drawingml/2006/main">
              <a:ext uri="{FF2B5EF4-FFF2-40B4-BE49-F238E27FC236}">
                <a16:creationId xmlns:a16="http://schemas.microsoft.com/office/drawing/2014/main" id="{31C0AF02-5E47-45DC-A7A5-111DBBD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Контакты</a:t>
            </a:r>
          </a:p>
        </p:txBody>
      </p:sp>
      <p:sp>
        <p:nvSpPr>
          <p:cNvPr id="4" name="Нагар, кратеры, неровности и потерю материала на р">
            <a:extLst xmlns:a="http://schemas.openxmlformats.org/drawingml/2006/main">
              <a:ext uri="{FF2B5EF4-FFF2-40B4-BE49-F238E27FC236}">
                <a16:creationId xmlns:a16="http://schemas.microsoft.com/office/drawing/2014/main" id="{30862F0A-935A-400E-9A8A-0D554CE1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Нагар, кратеры, неровности и потерю материала на рабочей поверхности.</a:t>
            </a:r>
          </a:p>
        </p:txBody>
      </p:sp>
      <p:sp>
        <p:nvSpPr>
          <p:cNvPr id="5" name="Изоляция и корпус">
            <a:extLst xmlns:a="http://schemas.openxmlformats.org/drawingml/2006/main">
              <a:ext uri="{FF2B5EF4-FFF2-40B4-BE49-F238E27FC236}">
                <a16:creationId xmlns:a16="http://schemas.microsoft.com/office/drawing/2014/main" id="{EDF2A206-020A-421B-AEB8-0D86BFF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Изоляция и корпус</a:t>
            </a:r>
          </a:p>
        </p:txBody>
      </p:sp>
      <p:sp>
        <p:nvSpPr>
          <p:cNvPr id="6" name="Потемнение, оплавление, обугливание и трещины.">
            <a:extLst xmlns:a="http://schemas.openxmlformats.org/drawingml/2006/main">
              <a:ext uri="{FF2B5EF4-FFF2-40B4-BE49-F238E27FC236}">
                <a16:creationId xmlns:a16="http://schemas.microsoft.com/office/drawing/2014/main" id="{4F9D5D68-3755-46B2-ABB9-467CFF08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Потемнение, оплавление, обугливание и трещины.</a:t>
            </a:r>
          </a:p>
        </p:txBody>
      </p:sp>
      <p:sp>
        <p:nvSpPr>
          <p:cNvPr id="7" name="Зажимы и проводники">
            <a:extLst xmlns:a="http://schemas.openxmlformats.org/drawingml/2006/main">
              <a:ext uri="{FF2B5EF4-FFF2-40B4-BE49-F238E27FC236}">
                <a16:creationId xmlns:a16="http://schemas.microsoft.com/office/drawing/2014/main" id="{CBAA72D4-0185-4802-80BB-2B780ACB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Зажимы и проводники</a:t>
            </a:r>
          </a:p>
        </p:txBody>
      </p:sp>
      <p:sp>
        <p:nvSpPr>
          <p:cNvPr id="8" name="Повреждение жил, следы перегрева и продукты корроз">
            <a:extLst xmlns:a="http://schemas.openxmlformats.org/drawingml/2006/main">
              <a:ext uri="{FF2B5EF4-FFF2-40B4-BE49-F238E27FC236}">
                <a16:creationId xmlns:a16="http://schemas.microsoft.com/office/drawing/2014/main" id="{9AB8BB47-D103-4FC8-94FF-0AA6F037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Повреждение жил, следы перегрева и продукты коррозии.</a:t>
            </a:r>
          </a:p>
        </p:txBody>
      </p:sp>
      <p:sp>
        <p:nvSpPr>
          <p:cNvPr id="9" name="Катушка">
            <a:extLst xmlns:a="http://schemas.openxmlformats.org/drawingml/2006/main">
              <a:ext uri="{FF2B5EF4-FFF2-40B4-BE49-F238E27FC236}">
                <a16:creationId xmlns:a16="http://schemas.microsoft.com/office/drawing/2014/main" id="{7E5F6ADA-307E-4280-AB26-9D92AB49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Катушка</a:t>
            </a:r>
          </a:p>
        </p:txBody>
      </p:sp>
      <p:sp>
        <p:nvSpPr>
          <p:cNvPr id="10" name="Повреждение каркаса и изоляции обмотки. Не каждый ">
            <a:extLst xmlns:a="http://schemas.openxmlformats.org/drawingml/2006/main">
              <a:ext uri="{FF2B5EF4-FFF2-40B4-BE49-F238E27FC236}">
                <a16:creationId xmlns:a16="http://schemas.microsoft.com/office/drawing/2014/main" id="{33CCB39B-41BE-4C3F-91AA-FB7961D3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4953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Повреждение каркаса и изоляции обмотки. Не каждый дефект виден снаружи.</a:t>
            </a:r>
          </a:p>
        </p:txBody>
      </p:sp>
      <p:sp>
        <p:nvSpPr>
          <p:cNvPr id="11" name="Осмотр выявляет признаки. Измерения и испытания по">
            <a:extLst xmlns:a="http://schemas.openxmlformats.org/drawingml/2006/main">
              <a:ext uri="{FF2B5EF4-FFF2-40B4-BE49-F238E27FC236}">
                <a16:creationId xmlns:a16="http://schemas.microsoft.com/office/drawing/2014/main" id="{E27CEDE0-6481-42EB-84AA-A899DB2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Осмотр выявляет признаки. Измерения и испытания помогают установить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1235046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одгорание контактной поверхности">
            <a:extLst xmlns:a="http://schemas.openxmlformats.org/drawingml/2006/main">
              <a:ext uri="{FF2B5EF4-FFF2-40B4-BE49-F238E27FC236}">
                <a16:creationId xmlns:a16="http://schemas.microsoft.com/office/drawing/2014/main" id="{23859B09-E8E4-470D-BB05-9248493C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Подгорание контактной поверхности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67DBE7D2-C79B-49C3-A225-285C38C6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A4D62-D450-4BC3-B73D-C177C1245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f2ea405d44937"/>
          <a:stretch xmlns:a="http://schemas.openxmlformats.org/drawingml/2006/main"/>
        </p:blipFill>
        <p:spPr>
          <a:xfrm xmlns:a="http://schemas.openxmlformats.org/drawingml/2006/main">
            <a:off x="1220399" y="1466850"/>
            <a:ext cx="5464953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172981B5-D1F8-4FEB-95F6-5F9C9E9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На контактной накладке виден тёмный участок с неро">
            <a:extLst xmlns:a="http://schemas.openxmlformats.org/drawingml/2006/main">
              <a:ext uri="{FF2B5EF4-FFF2-40B4-BE49-F238E27FC236}">
                <a16:creationId xmlns:a16="http://schemas.microsoft.com/office/drawing/2014/main" id="{DABA71B7-B86D-4D37-B81E-B4EABE0A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 контактной накладке виден тёмный участок с неровной поверхностью.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213F1A91-ADCE-40E8-8622-462D2BAD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Состояние обеих контактных поверхностей, нажатие и">
            <a:extLst xmlns:a="http://schemas.openxmlformats.org/drawingml/2006/main">
              <a:ext uri="{FF2B5EF4-FFF2-40B4-BE49-F238E27FC236}">
                <a16:creationId xmlns:a16="http://schemas.microsoft.com/office/drawing/2014/main" id="{E0C4312F-6BF3-49B9-89EB-9DFE927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Состояние обеих контактных поверхностей, нажатие и допустимый износ по документации.</a:t>
            </a:r>
          </a:p>
        </p:txBody>
      </p:sp>
      <p:sp>
        <p:nvSpPr>
          <p:cNvPr id="8" name="Почему уменьшение площади надёжного соприкосновени">
            <a:extLst xmlns:a="http://schemas.openxmlformats.org/drawingml/2006/main">
              <a:ext uri="{FF2B5EF4-FFF2-40B4-BE49-F238E27FC236}">
                <a16:creationId xmlns:a16="http://schemas.microsoft.com/office/drawing/2014/main" id="{F5A28F02-DB71-4862-B69E-8E7A6A8A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Почему уменьшение площади надёжного соприкосновения усиливает нагрев?</a:t>
            </a:r>
          </a:p>
        </p:txBody>
      </p:sp>
    </p:spTree>
    <p:extLst>
      <p:ext uri="{BB962C8B-B14F-4D97-AF65-F5344CB8AC3E}">
        <p14:creationId xmlns:p14="http://schemas.microsoft.com/office/powerpoint/2010/main" val="115531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знос контактов в сравнении">
            <a:extLst xmlns:a="http://schemas.openxmlformats.org/drawingml/2006/main">
              <a:ext uri="{FF2B5EF4-FFF2-40B4-BE49-F238E27FC236}">
                <a16:creationId xmlns:a16="http://schemas.microsoft.com/office/drawing/2014/main" id="{4BA38B9E-8F5B-449D-ABA7-98D8A148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Износ контактов в сравнении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F818A860-A271-4238-8EBF-AC143AC8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4DA53-14EE-4A8B-BF53-6F661B5B4A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ee6a588de4e5f"/>
          <a:stretch xmlns:a="http://schemas.openxmlformats.org/drawingml/2006/main"/>
        </p:blipFill>
        <p:spPr>
          <a:xfrm xmlns:a="http://schemas.openxmlformats.org/drawingml/2006/main">
            <a:off x="837943" y="1466850"/>
            <a:ext cx="6229865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3D8E104E-1550-484C-B57B-F7F20BF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Верхняя деталь потемнела. На нижней лучше различим">
            <a:extLst xmlns:a="http://schemas.openxmlformats.org/drawingml/2006/main">
              <a:ext uri="{FF2B5EF4-FFF2-40B4-BE49-F238E27FC236}">
                <a16:creationId xmlns:a16="http://schemas.microsoft.com/office/drawing/2014/main" id="{17181076-7DA4-4D7C-A909-52495E58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Верхняя деталь потемнела. На нижней лучше различимы рабочие поверхности.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6A8C9355-DF63-4FA4-8D89-FB104F1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Износ накладок, состояние пружин и соответствие ап">
            <a:extLst xmlns:a="http://schemas.openxmlformats.org/drawingml/2006/main">
              <a:ext uri="{FF2B5EF4-FFF2-40B4-BE49-F238E27FC236}">
                <a16:creationId xmlns:a16="http://schemas.microsoft.com/office/drawing/2014/main" id="{6976FE85-B720-4FCA-A207-D1200059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Износ накладок, состояние пружин и соответствие аппарата характеру нагрузки.</a:t>
            </a:r>
          </a:p>
        </p:txBody>
      </p:sp>
      <p:sp>
        <p:nvSpPr>
          <p:cNvPr id="8" name="По каким внешним признакам эти детали отличаются?">
            <a:extLst xmlns:a="http://schemas.openxmlformats.org/drawingml/2006/main">
              <a:ext uri="{FF2B5EF4-FFF2-40B4-BE49-F238E27FC236}">
                <a16:creationId xmlns:a16="http://schemas.microsoft.com/office/drawing/2014/main" id="{9B78B0DB-6095-48B2-A035-EF49E9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По каким внешним признакам эти детали отличаются?</a:t>
            </a:r>
          </a:p>
        </p:txBody>
      </p:sp>
    </p:spTree>
    <p:extLst>
      <p:ext uri="{BB962C8B-B14F-4D97-AF65-F5344CB8AC3E}">
        <p14:creationId xmlns:p14="http://schemas.microsoft.com/office/powerpoint/2010/main" val="1492814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овреждение контактных деталей">
            <a:extLst xmlns:a="http://schemas.openxmlformats.org/drawingml/2006/main">
              <a:ext uri="{FF2B5EF4-FFF2-40B4-BE49-F238E27FC236}">
                <a16:creationId xmlns:a16="http://schemas.microsoft.com/office/drawing/2014/main" id="{D708BF21-53DA-44AE-8E05-35D8AA7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Повреждение контактных деталей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F9D1077-DFFC-4D1F-97C9-7380E80E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BB12E-F719-4D44-92BC-70F70F255B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b42f8996b44f2"/>
          <a:stretch xmlns:a="http://schemas.openxmlformats.org/drawingml/2006/main"/>
        </p:blipFill>
        <p:spPr>
          <a:xfrm xmlns:a="http://schemas.openxmlformats.org/drawingml/2006/main">
            <a:off x="879475" y="1466850"/>
            <a:ext cx="6146800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857F9E89-3BA2-4842-8747-1430B7F8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На разобранных деталях видны потемнение и неровнос">
            <a:extLst xmlns:a="http://schemas.openxmlformats.org/drawingml/2006/main">
              <a:ext uri="{FF2B5EF4-FFF2-40B4-BE49-F238E27FC236}">
                <a16:creationId xmlns:a16="http://schemas.microsoft.com/office/drawing/2014/main" id="{FDD32615-8044-4F81-B4C0-B29FB1B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 разобранных деталях видны потемнение и неровности контактных участков.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6708FAE3-6569-4A4F-AA27-119F292A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Целостность деталей, состояние креплений и возможн">
            <a:extLst xmlns:a="http://schemas.openxmlformats.org/drawingml/2006/main">
              <a:ext uri="{FF2B5EF4-FFF2-40B4-BE49-F238E27FC236}">
                <a16:creationId xmlns:a16="http://schemas.microsoft.com/office/drawing/2014/main" id="{70BBFA2F-01D0-4E60-A752-4080BE2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Целостность деталей, состояние креплений и возможность замены контактного узла.</a:t>
            </a:r>
          </a:p>
        </p:txBody>
      </p:sp>
      <p:sp>
        <p:nvSpPr>
          <p:cNvPr id="8" name="Разборка аппарата сама по себе ещё не определяет п">
            <a:extLst xmlns:a="http://schemas.openxmlformats.org/drawingml/2006/main">
              <a:ext uri="{FF2B5EF4-FFF2-40B4-BE49-F238E27FC236}">
                <a16:creationId xmlns:a16="http://schemas.microsoft.com/office/drawing/2014/main" id="{4EE9A5ED-0592-4830-9AE1-8ADCEB05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Разборка аппарата сама по себе ещё не определяет причину отказа.</a:t>
            </a:r>
          </a:p>
        </p:txBody>
      </p:sp>
    </p:spTree>
    <p:extLst>
      <p:ext uri="{BB962C8B-B14F-4D97-AF65-F5344CB8AC3E}">
        <p14:creationId xmlns:p14="http://schemas.microsoft.com/office/powerpoint/2010/main" val="666645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Обугливание корпуса выключателя">
            <a:extLst xmlns:a="http://schemas.openxmlformats.org/drawingml/2006/main">
              <a:ext uri="{FF2B5EF4-FFF2-40B4-BE49-F238E27FC236}">
                <a16:creationId xmlns:a16="http://schemas.microsoft.com/office/drawing/2014/main" id="{034FA9E1-5A81-405F-8A0E-68F34E34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Обугливание корпуса выключателя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220E2A24-59D7-484F-8767-576E54B1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138F4-1379-424B-A050-43B68C32B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8d338aa1d4747"/>
          <a:stretch xmlns:a="http://schemas.openxmlformats.org/drawingml/2006/main"/>
        </p:blipFill>
        <p:spPr>
          <a:xfrm xmlns:a="http://schemas.openxmlformats.org/drawingml/2006/main">
            <a:off x="571500" y="1869877"/>
            <a:ext cx="6762750" cy="3804047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EDA1E19E-EDC8-41D4-9D50-05FB7F3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Корпус возле зажима сильно разрушен. Повреждение в">
            <a:extLst xmlns:a="http://schemas.openxmlformats.org/drawingml/2006/main">
              <a:ext uri="{FF2B5EF4-FFF2-40B4-BE49-F238E27FC236}">
                <a16:creationId xmlns:a16="http://schemas.microsoft.com/office/drawing/2014/main" id="{227877F7-D0A7-4283-8868-FAB16C23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Корпус возле зажима сильно разрушен. Повреждение выходит за пределы поверхности контакта.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F8B6987B-43CB-457A-B77A-72E43631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Состояние проводника и соединения, нагрузку и приг">
            <a:extLst xmlns:a="http://schemas.openxmlformats.org/drawingml/2006/main">
              <a:ext uri="{FF2B5EF4-FFF2-40B4-BE49-F238E27FC236}">
                <a16:creationId xmlns:a16="http://schemas.microsoft.com/office/drawing/2014/main" id="{BF98DC23-F79C-4175-99D3-01682E2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Состояние проводника и соединения, нагрузку и пригодность аппарата к дальнейшей работе.</a:t>
            </a:r>
          </a:p>
        </p:txBody>
      </p:sp>
      <p:sp>
        <p:nvSpPr>
          <p:cNvPr id="8" name="Повреждённый неразборный выключатель заменяют.">
            <a:extLst xmlns:a="http://schemas.openxmlformats.org/drawingml/2006/main">
              <a:ext uri="{FF2B5EF4-FFF2-40B4-BE49-F238E27FC236}">
                <a16:creationId xmlns:a16="http://schemas.microsoft.com/office/drawing/2014/main" id="{94DDC193-3BAA-4A87-B729-F6B71637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Повреждённый неразборный выключатель заменяют.</a:t>
            </a:r>
          </a:p>
        </p:txBody>
      </p:sp>
    </p:spTree>
    <p:extLst>
      <p:ext uri="{BB962C8B-B14F-4D97-AF65-F5344CB8AC3E}">
        <p14:creationId xmlns:p14="http://schemas.microsoft.com/office/powerpoint/2010/main" val="1106982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ерегрев соединения в щите">
            <a:extLst xmlns:a="http://schemas.openxmlformats.org/drawingml/2006/main">
              <a:ext uri="{FF2B5EF4-FFF2-40B4-BE49-F238E27FC236}">
                <a16:creationId xmlns:a16="http://schemas.microsoft.com/office/drawing/2014/main" id="{E91CDB1E-9146-40A6-97A1-775AFBD3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Перегрев соединения в щите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21838F0F-0CDF-4EE8-9A60-43CA818E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EE8AE-0A21-4678-966A-2E2D096B8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2d756ee07461e"/>
          <a:stretch xmlns:a="http://schemas.openxmlformats.org/drawingml/2006/main"/>
        </p:blipFill>
        <p:spPr>
          <a:xfrm xmlns:a="http://schemas.openxmlformats.org/drawingml/2006/main">
            <a:off x="879475" y="1466850"/>
            <a:ext cx="6146800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0766CC47-B288-4784-9FC7-EEEE71F9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Возле нижнего левого зажима правого аппарата видны">
            <a:extLst xmlns:a="http://schemas.openxmlformats.org/drawingml/2006/main">
              <a:ext uri="{FF2B5EF4-FFF2-40B4-BE49-F238E27FC236}">
                <a16:creationId xmlns:a16="http://schemas.microsoft.com/office/drawing/2014/main" id="{75153887-73AE-4C59-8A12-EF087E9B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Возле нижнего левого зажима правого аппарата видны почернение и повреждение изоляции.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32704B61-D6A5-41AF-9D9A-BA9E934D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Качество оконцевания, состояние жилы и зажима, соо">
            <a:extLst xmlns:a="http://schemas.openxmlformats.org/drawingml/2006/main">
              <a:ext uri="{FF2B5EF4-FFF2-40B4-BE49-F238E27FC236}">
                <a16:creationId xmlns:a16="http://schemas.microsoft.com/office/drawing/2014/main" id="{64DFA321-8359-4596-AC0B-306D638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Качество оконцевания, состояние жилы и зажима, соответствие проводника нагрузке.</a:t>
            </a:r>
          </a:p>
        </p:txBody>
      </p:sp>
      <p:sp>
        <p:nvSpPr>
          <p:cNvPr id="8" name="Проверка включает и аппарат, и подключённый провод">
            <a:extLst xmlns:a="http://schemas.openxmlformats.org/drawingml/2006/main">
              <a:ext uri="{FF2B5EF4-FFF2-40B4-BE49-F238E27FC236}">
                <a16:creationId xmlns:a16="http://schemas.microsoft.com/office/drawing/2014/main" id="{91231AA3-8C71-41B9-81E3-20DA6D0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Проверка включает и аппарат, и подключённый проводник.</a:t>
            </a:r>
          </a:p>
        </p:txBody>
      </p:sp>
    </p:spTree>
    <p:extLst>
      <p:ext uri="{BB962C8B-B14F-4D97-AF65-F5344CB8AC3E}">
        <p14:creationId xmlns:p14="http://schemas.microsoft.com/office/powerpoint/2010/main" val="353223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овреждение изоляции катушки">
            <a:extLst xmlns:a="http://schemas.openxmlformats.org/drawingml/2006/main">
              <a:ext uri="{FF2B5EF4-FFF2-40B4-BE49-F238E27FC236}">
                <a16:creationId xmlns:a16="http://schemas.microsoft.com/office/drawing/2014/main" id="{1988522F-CD55-4746-89F9-7F82892E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Повреждение изоляции катушки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1BA53AC-235F-4CFD-95EF-C2FCAFE7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074E6-A07D-48A9-A5A3-3F768792D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8cc233ce94eb8"/>
          <a:stretch xmlns:a="http://schemas.openxmlformats.org/drawingml/2006/main"/>
        </p:blipFill>
        <p:spPr>
          <a:xfrm xmlns:a="http://schemas.openxmlformats.org/drawingml/2006/main">
            <a:off x="571500" y="1693763"/>
            <a:ext cx="6762750" cy="4156273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8DAD49E1-7980-4B5B-862E-F7695DD0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В средней части обмотки виден обугленный участок и">
            <a:extLst xmlns:a="http://schemas.openxmlformats.org/drawingml/2006/main">
              <a:ext uri="{FF2B5EF4-FFF2-40B4-BE49-F238E27FC236}">
                <a16:creationId xmlns:a16="http://schemas.microsoft.com/office/drawing/2014/main" id="{3B4404DE-0B12-4CCB-8E65-95B06872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В средней части обмотки виден обугленный участок и разрушение изоляционного материала.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1FA1A5FA-80BA-4F6D-A2D4-643C8C8F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Напряжение питания, режим работы, свободное переме">
            <a:extLst xmlns:a="http://schemas.openxmlformats.org/drawingml/2006/main">
              <a:ext uri="{FF2B5EF4-FFF2-40B4-BE49-F238E27FC236}">
                <a16:creationId xmlns:a16="http://schemas.microsoft.com/office/drawing/2014/main" id="{79F6D2CE-6636-4A26-A391-747C92A9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Напряжение питания, режим работы, свободное перемещение и прилегание магнитной системы.</a:t>
            </a:r>
          </a:p>
        </p:txBody>
      </p:sp>
      <p:sp>
        <p:nvSpPr>
          <p:cNvPr id="8" name="Замена катушки требует устранения причины её перег">
            <a:extLst xmlns:a="http://schemas.openxmlformats.org/drawingml/2006/main">
              <a:ext uri="{FF2B5EF4-FFF2-40B4-BE49-F238E27FC236}">
                <a16:creationId xmlns:a16="http://schemas.microsoft.com/office/drawing/2014/main" id="{737630FF-D932-4192-975D-5957CCFE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Замена катушки требует устранения причины её перегрева.</a:t>
            </a:r>
          </a:p>
        </p:txBody>
      </p:sp>
    </p:spTree>
    <p:extLst>
      <p:ext uri="{BB962C8B-B14F-4D97-AF65-F5344CB8AC3E}">
        <p14:creationId xmlns:p14="http://schemas.microsoft.com/office/powerpoint/2010/main" val="20156729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Тепловое повреждение контактов реле">
            <a:extLst xmlns:a="http://schemas.openxmlformats.org/drawingml/2006/main">
              <a:ext uri="{FF2B5EF4-FFF2-40B4-BE49-F238E27FC236}">
                <a16:creationId xmlns:a16="http://schemas.microsoft.com/office/drawing/2014/main" id="{8D354765-5EAE-4DBF-AE4E-4CEDBD79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Тепловое повреждение контактов реле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BC6ED59-E34E-4247-87EB-6B67EB5A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9F7A6-3811-4506-81D4-F5D8AE0A5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446bc19074424"/>
          <a:stretch xmlns:a="http://schemas.openxmlformats.org/drawingml/2006/main"/>
        </p:blipFill>
        <p:spPr>
          <a:xfrm xmlns:a="http://schemas.openxmlformats.org/drawingml/2006/main">
            <a:off x="939738" y="1466850"/>
            <a:ext cx="6026275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7EBE2265-5592-472B-A7B1-AA621F2E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Рамка на исходной фотографии выделяет контактный у">
            <a:extLst xmlns:a="http://schemas.openxmlformats.org/drawingml/2006/main">
              <a:ext uri="{FF2B5EF4-FFF2-40B4-BE49-F238E27FC236}">
                <a16:creationId xmlns:a16="http://schemas.microsoft.com/office/drawing/2014/main" id="{3E2577E3-9C95-4788-8174-8CD673C2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Рамка на исходной фотографии выделяет контактный узел со следами перегрева и оплавления.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C259712A-056D-4F80-BF67-65592A73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Переключение контактов, допустимую нагрузку и сост">
            <a:extLst xmlns:a="http://schemas.openxmlformats.org/drawingml/2006/main">
              <a:ext uri="{FF2B5EF4-FFF2-40B4-BE49-F238E27FC236}">
                <a16:creationId xmlns:a16="http://schemas.microsoft.com/office/drawing/2014/main" id="{B9B65F64-C1B7-474B-B981-3DEC7E3A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Переключение контактов, допустимую нагрузку и состояние управляемой цепи.</a:t>
            </a:r>
          </a:p>
        </p:txBody>
      </p:sp>
      <p:sp>
        <p:nvSpPr>
          <p:cNvPr id="8" name="Подпись на фотографии: «Перегретые контакты реле с">
            <a:extLst xmlns:a="http://schemas.openxmlformats.org/drawingml/2006/main">
              <a:ext uri="{FF2B5EF4-FFF2-40B4-BE49-F238E27FC236}">
                <a16:creationId xmlns:a16="http://schemas.microsoft.com/office/drawing/2014/main" id="{7DFD4318-A7B9-4FB2-9947-CD8A926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Подпись на фотографии: «Перегретые контакты реле со следами оплавления».</a:t>
            </a:r>
          </a:p>
        </p:txBody>
      </p:sp>
    </p:spTree>
    <p:extLst>
      <p:ext uri="{BB962C8B-B14F-4D97-AF65-F5344CB8AC3E}">
        <p14:creationId xmlns:p14="http://schemas.microsoft.com/office/powerpoint/2010/main" val="3091176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Разрушение основания реле">
            <a:extLst xmlns:a="http://schemas.openxmlformats.org/drawingml/2006/main">
              <a:ext uri="{FF2B5EF4-FFF2-40B4-BE49-F238E27FC236}">
                <a16:creationId xmlns:a16="http://schemas.microsoft.com/office/drawing/2014/main" id="{A538A8E4-BF44-4024-8700-B6F823C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Разрушение основания реле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294A25F9-6766-4730-8CE8-D5C150A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99976-98D6-4CE0-AEA5-8CC67496BC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da2bc8e2b4a7c"/>
          <a:stretch xmlns:a="http://schemas.openxmlformats.org/drawingml/2006/main"/>
        </p:blipFill>
        <p:spPr>
          <a:xfrm xmlns:a="http://schemas.openxmlformats.org/drawingml/2006/main">
            <a:off x="879475" y="1466850"/>
            <a:ext cx="6146800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69604D26-E1D4-47A3-B69D-68CF2C4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Между выводами видна обугленная полость. Изоляцион">
            <a:extLst xmlns:a="http://schemas.openxmlformats.org/drawingml/2006/main">
              <a:ext uri="{FF2B5EF4-FFF2-40B4-BE49-F238E27FC236}">
                <a16:creationId xmlns:a16="http://schemas.microsoft.com/office/drawing/2014/main" id="{63016778-608B-494E-8A9C-9E2B52D2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Между выводами видна обугленная полость. Изоляционное основание потеряло целостность.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190322FC-6928-49C4-962F-729D47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Также осматривают ответную колодку, зажимы и прово">
            <a:extLst xmlns:a="http://schemas.openxmlformats.org/drawingml/2006/main">
              <a:ext uri="{FF2B5EF4-FFF2-40B4-BE49-F238E27FC236}">
                <a16:creationId xmlns:a16="http://schemas.microsoft.com/office/drawing/2014/main" id="{73961603-B8ED-46CE-8B80-A610DD74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Также осматривают ответную колодку, зажимы и проводники. Повреждённое реле заменяют.</a:t>
            </a:r>
          </a:p>
        </p:txBody>
      </p:sp>
      <p:sp>
        <p:nvSpPr>
          <p:cNvPr id="8" name="Пример автомобильного реле: внешний признак повреж">
            <a:extLst xmlns:a="http://schemas.openxmlformats.org/drawingml/2006/main">
              <a:ext uri="{FF2B5EF4-FFF2-40B4-BE49-F238E27FC236}">
                <a16:creationId xmlns:a16="http://schemas.microsoft.com/office/drawing/2014/main" id="{B34B7807-6E90-4CE0-892D-354BB92C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Пример автомобильного реле: внешний признак повреждения изоляции.</a:t>
            </a:r>
          </a:p>
        </p:txBody>
      </p:sp>
    </p:spTree>
    <p:extLst>
      <p:ext uri="{BB962C8B-B14F-4D97-AF65-F5344CB8AC3E}">
        <p14:creationId xmlns:p14="http://schemas.microsoft.com/office/powerpoint/2010/main" val="1335147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овреждение силового контактора">
            <a:extLst xmlns:a="http://schemas.openxmlformats.org/drawingml/2006/main">
              <a:ext uri="{FF2B5EF4-FFF2-40B4-BE49-F238E27FC236}">
                <a16:creationId xmlns:a16="http://schemas.microsoft.com/office/drawing/2014/main" id="{A0823D36-8F2B-4BE6-A79B-05BE134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Повреждение силового контактора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655993B-EC4C-4225-A364-B6DA0B4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C8BCB-E289-443A-BD64-4BC95C66D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5186aae8943de"/>
          <a:stretch xmlns:a="http://schemas.openxmlformats.org/drawingml/2006/main"/>
        </p:blipFill>
        <p:spPr>
          <a:xfrm xmlns:a="http://schemas.openxmlformats.org/drawingml/2006/main">
            <a:off x="2224088" y="1466850"/>
            <a:ext cx="3457575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CC2431B4-7677-4DB6-A5CC-D26ADCE4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Потемнение корпуса и повреждённые соединения замет">
            <a:extLst xmlns:a="http://schemas.openxmlformats.org/drawingml/2006/main">
              <a:ext uri="{FF2B5EF4-FFF2-40B4-BE49-F238E27FC236}">
                <a16:creationId xmlns:a16="http://schemas.microsoft.com/office/drawing/2014/main" id="{615CDCD8-F056-401D-BDCD-38323BD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Потемнение корпуса и повреждённые соединения заметны в нижней части аппарата.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E61286A6-9A40-4BBE-9F4D-E44541DC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Контактор, наконечники и кабели, а также нагрузку ">
            <a:extLst xmlns:a="http://schemas.openxmlformats.org/drawingml/2006/main">
              <a:ext uri="{FF2B5EF4-FFF2-40B4-BE49-F238E27FC236}">
                <a16:creationId xmlns:a16="http://schemas.microsoft.com/office/drawing/2014/main" id="{886FFE7B-1385-4183-8131-A72F25C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Контактор, наконечники и кабели, а также нагрузку и условия эксплуатации.</a:t>
            </a:r>
          </a:p>
        </p:txBody>
      </p:sp>
      <p:sp>
        <p:nvSpPr>
          <p:cNvPr id="8" name="Объём восстановления определяют по всем повреждённ">
            <a:extLst xmlns:a="http://schemas.openxmlformats.org/drawingml/2006/main">
              <a:ext uri="{FF2B5EF4-FFF2-40B4-BE49-F238E27FC236}">
                <a16:creationId xmlns:a16="http://schemas.microsoft.com/office/drawing/2014/main" id="{4F50C838-8D5F-4794-8C04-A42DD55D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Объём восстановления определяют по всем повреждённым элементам.</a:t>
            </a:r>
          </a:p>
        </p:txBody>
      </p:sp>
    </p:spTree>
    <p:extLst>
      <p:ext uri="{BB962C8B-B14F-4D97-AF65-F5344CB8AC3E}">
        <p14:creationId xmlns:p14="http://schemas.microsoft.com/office/powerpoint/2010/main" val="1750911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оррозия проводников и загрязнение">
            <a:extLst xmlns:a="http://schemas.openxmlformats.org/drawingml/2006/main">
              <a:ext uri="{FF2B5EF4-FFF2-40B4-BE49-F238E27FC236}">
                <a16:creationId xmlns:a16="http://schemas.microsoft.com/office/drawing/2014/main" id="{C2CBB405-1E8D-4A16-B620-BD4563B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Коррозия проводников и загрязнение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1C1A76B-0FC8-44E9-8D29-914C6CAD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215E1-1D03-4976-961D-E26C44AB07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d2e3853444788"/>
          <a:stretch xmlns:a="http://schemas.openxmlformats.org/drawingml/2006/main"/>
        </p:blipFill>
        <p:spPr>
          <a:xfrm xmlns:a="http://schemas.openxmlformats.org/drawingml/2006/main">
            <a:off x="1608269" y="1466850"/>
            <a:ext cx="4689212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Что видно">
            <a:extLst xmlns:a="http://schemas.openxmlformats.org/drawingml/2006/main">
              <a:ext uri="{FF2B5EF4-FFF2-40B4-BE49-F238E27FC236}">
                <a16:creationId xmlns:a16="http://schemas.microsoft.com/office/drawing/2014/main" id="{D3AE7903-6B4C-4767-9E84-F799AA1B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621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видно</a:t>
            </a:r>
          </a:p>
        </p:txBody>
      </p:sp>
      <p:sp>
        <p:nvSpPr>
          <p:cNvPr id="5" name="Слева видны зелёные отложения на оголённых жилах. ">
            <a:extLst xmlns:a="http://schemas.openxmlformats.org/drawingml/2006/main">
              <a:ext uri="{FF2B5EF4-FFF2-40B4-BE49-F238E27FC236}">
                <a16:creationId xmlns:a16="http://schemas.microsoft.com/office/drawing/2014/main" id="{08B352AB-8294-49D4-9D4E-34765359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9775"/>
            <a:ext cx="3810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Слева видны зелёные отложения на оголённых жилах. Поверхности аппаратов загрязнены.</a:t>
            </a:r>
          </a:p>
        </p:txBody>
      </p:sp>
      <p:sp>
        <p:nvSpPr>
          <p:cNvPr id="6" name="Что проверяют">
            <a:extLst xmlns:a="http://schemas.openxmlformats.org/drawingml/2006/main">
              <a:ext uri="{FF2B5EF4-FFF2-40B4-BE49-F238E27FC236}">
                <a16:creationId xmlns:a16="http://schemas.microsoft.com/office/drawing/2014/main" id="{20CDA25F-2C18-4F26-A8F5-FF52CC3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Что проверяют</a:t>
            </a:r>
          </a:p>
        </p:txBody>
      </p:sp>
      <p:sp>
        <p:nvSpPr>
          <p:cNvPr id="7" name="Состояние жил и изоляции, герметичность шкафа и на">
            <a:extLst xmlns:a="http://schemas.openxmlformats.org/drawingml/2006/main">
              <a:ext uri="{FF2B5EF4-FFF2-40B4-BE49-F238E27FC236}">
                <a16:creationId xmlns:a16="http://schemas.microsoft.com/office/drawing/2014/main" id="{E3DF6C6E-522D-433C-B700-6303076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3810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Состояние жил и изоляции, герметичность шкафа и наличие влаги или агрессивной среды.</a:t>
            </a:r>
          </a:p>
        </p:txBody>
      </p:sp>
      <p:sp>
        <p:nvSpPr>
          <p:cNvPr id="8" name="Очистка поверхности не восстанавливает разрушенную">
            <a:extLst xmlns:a="http://schemas.openxmlformats.org/drawingml/2006/main">
              <a:ext uri="{FF2B5EF4-FFF2-40B4-BE49-F238E27FC236}">
                <a16:creationId xmlns:a16="http://schemas.microsoft.com/office/drawing/2014/main" id="{3B332661-731D-4BB9-9B01-AB590CAC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Очистка поверхности не восстанавливает разрушенную жилу.</a:t>
            </a:r>
          </a:p>
        </p:txBody>
      </p:sp>
    </p:spTree>
    <p:extLst>
      <p:ext uri="{BB962C8B-B14F-4D97-AF65-F5344CB8AC3E}">
        <p14:creationId xmlns:p14="http://schemas.microsoft.com/office/powerpoint/2010/main" val="1249485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Неисправности выключателей и соединений">
            <a:extLst xmlns:a="http://schemas.openxmlformats.org/drawingml/2006/main">
              <a:ext uri="{FF2B5EF4-FFF2-40B4-BE49-F238E27FC236}">
                <a16:creationId xmlns:a16="http://schemas.microsoft.com/office/drawing/2014/main" id="{C10B4E9F-FB49-4C75-B631-FE862A57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Неисправности выключателей и соединений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40CDAD02-28C3-45BB-9EF0-A5E43581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FCFDE-76B3-48E2-929D-9FFEA835F22C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3562350"/>
                <a:gridCol w="47053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Возможная причина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и устранение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Выключатель отключается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Перегрузка, короткое замыкание или неисправность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нагрузку и цепь. Устранить причину. Неисправный выключатель заменить.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Не удерживается во включённом положении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Повреждение механизма или условие отключения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механизм и цепь по документации. При подтверждении отказа заменить аппарат.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Нагревается зажим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Ослабление соединения, повреждение жилы или перегрузка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проводник и зажим. Восстановить соединение или заменить повреждённые элементы.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</a:tbl>
          </a:graphicData>
        </a:graphic>
      </p:graphicFrame>
      <p:sp>
        <p:nvSpPr>
          <p:cNvPr id="4" name="Допустимые значения и способы ремонта определяют п">
            <a:extLst xmlns:a="http://schemas.openxmlformats.org/drawingml/2006/main">
              <a:ext uri="{FF2B5EF4-FFF2-40B4-BE49-F238E27FC236}">
                <a16:creationId xmlns:a16="http://schemas.microsoft.com/office/drawing/2014/main" id="{D5CEBB88-B003-48DA-8F1E-3E620E8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Допустимые значения и способы ремонта определяют по документации изготовителя.</a:t>
            </a:r>
          </a:p>
        </p:txBody>
      </p:sp>
    </p:spTree>
    <p:extLst>
      <p:ext uri="{BB962C8B-B14F-4D97-AF65-F5344CB8AC3E}">
        <p14:creationId xmlns:p14="http://schemas.microsoft.com/office/powerpoint/2010/main" val="18238823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Неисправности контакторов">
            <a:extLst xmlns:a="http://schemas.openxmlformats.org/drawingml/2006/main">
              <a:ext uri="{FF2B5EF4-FFF2-40B4-BE49-F238E27FC236}">
                <a16:creationId xmlns:a16="http://schemas.microsoft.com/office/drawing/2014/main" id="{082BCE72-58B8-4071-9440-1672519F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Неисправности контакторов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71810CF9-20E5-4CE2-A52E-EBFD40E6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1E161-CB3C-4155-95F2-A14E54B7C541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3562350"/>
                <a:gridCol w="47053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Возможная причина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и устранение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Не включается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Нет питания катушки, обрыв цепи или повреждение катушки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цепь управления и катушку. Восстановить цепь или заменить неисправный элемент.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Гудит, якорь вибрирует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Пониженное напряжение или неисправность магнитной системы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питание, загрязнение и механическое состояние. Устранить выявленную причину.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2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Не отключается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Сохранился сигнал, заедает механизм или сварились контакты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цепь управления и аппарат. Заменить повреждённый узел или аппарат.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</a:tbl>
          </a:graphicData>
        </a:graphic>
      </p:graphicFrame>
      <p:sp>
        <p:nvSpPr>
          <p:cNvPr id="4" name="Допустимые значения и способы ремонта определяют п">
            <a:extLst xmlns:a="http://schemas.openxmlformats.org/drawingml/2006/main">
              <a:ext uri="{FF2B5EF4-FFF2-40B4-BE49-F238E27FC236}">
                <a16:creationId xmlns:a16="http://schemas.microsoft.com/office/drawing/2014/main" id="{0D325C9E-1072-46F0-AF4A-3B523289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Допустимые значения и способы ремонта определяют по документации изготовителя.</a:t>
            </a:r>
          </a:p>
        </p:txBody>
      </p:sp>
    </p:spTree>
    <p:extLst>
      <p:ext uri="{BB962C8B-B14F-4D97-AF65-F5344CB8AC3E}">
        <p14:creationId xmlns:p14="http://schemas.microsoft.com/office/powerpoint/2010/main" val="870589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Неисправности реле и катушек">
            <a:extLst xmlns:a="http://schemas.openxmlformats.org/drawingml/2006/main">
              <a:ext uri="{FF2B5EF4-FFF2-40B4-BE49-F238E27FC236}">
                <a16:creationId xmlns:a16="http://schemas.microsoft.com/office/drawing/2014/main" id="{E13F370B-D1BD-430D-B4D4-BCECCC4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Неисправности реле и катушек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3B68F209-966C-4A32-BCEB-E011999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20345-002A-4BF7-AF96-58C051414D7A}"/>
              </a:ext>
            </a:extLst>
          </p:cNvPr>
          <p:cNvGraphicFramePr/>
          <p:nvPr/>
        </p:nvGraphicFramePr>
        <p:xfrm>
          <a:off xmlns:a="http://schemas.openxmlformats.org/drawingml/2006/main" x="571500" y="1600200"/>
          <a:ext xmlns:a="http://schemas.openxmlformats.org/drawingml/2006/main" cx="11049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1300"/>
                <a:gridCol w="3562350"/>
                <a:gridCol w="47053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Признак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Возможная причина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и устранение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T w="9525">
                      <a:solidFill>
                        <a:srgbClr val="CBD8D6"/>
                      </a:solidFill>
                      <a:prstDash val="solid"/>
                    </a:lnT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12343B"/>
                    </a:solidFill>
                  </a:tcPr>
                </a:tc>
              </a:tr>
              <a:tr h="1819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Реле срабатывает, но цепь не включается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Повреждены контакты или нарушена внешняя цепь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переключение контактов и целостность цепи. Устранить обрыв или заменить реле.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EFF5F3"/>
                    </a:solidFill>
                  </a:tcPr>
                </a:tc>
              </a:tr>
              <a:tr h="1819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Катушка сильно нагревается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CBD8D6"/>
                      </a:solidFill>
                      <a:prstDash val="solid"/>
                    </a:lnL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Неподходящее питание, режим работы или повреждение катушки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E44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Сопоставить питание и режим с паспортом. Устранить причину, заменить повреждённую катушку.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CBD8D6"/>
                      </a:solidFill>
                      <a:prstDash val="solid"/>
                    </a:lnR>
                    <a:lnB w="9525">
                      <a:solidFill>
                        <a:srgbClr val="CBD8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Допустимые значения и способы ремонта определяют п">
            <a:extLst xmlns:a="http://schemas.openxmlformats.org/drawingml/2006/main">
              <a:ext uri="{FF2B5EF4-FFF2-40B4-BE49-F238E27FC236}">
                <a16:creationId xmlns:a16="http://schemas.microsoft.com/office/drawing/2014/main" id="{AF13AD9F-1348-4080-9E50-81AA18EB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Допустимые значения и способы ремонта определяют по документации изготовителя.</a:t>
            </a:r>
          </a:p>
        </p:txBody>
      </p:sp>
    </p:spTree>
    <p:extLst>
      <p:ext uri="{BB962C8B-B14F-4D97-AF65-F5344CB8AC3E}">
        <p14:creationId xmlns:p14="http://schemas.microsoft.com/office/powerpoint/2010/main" val="14804651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оследовательность поиска неисправности">
            <a:extLst xmlns:a="http://schemas.openxmlformats.org/drawingml/2006/main">
              <a:ext uri="{FF2B5EF4-FFF2-40B4-BE49-F238E27FC236}">
                <a16:creationId xmlns:a16="http://schemas.microsoft.com/office/drawing/2014/main" id="{83BB278B-B74A-4C01-9C3E-3AE126B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Последовательность поиска неисправности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8E657009-27EF-4BF1-8207-5623B07F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1. Проявление отказа">
            <a:extLst xmlns:a="http://schemas.openxmlformats.org/drawingml/2006/main">
              <a:ext uri="{FF2B5EF4-FFF2-40B4-BE49-F238E27FC236}">
                <a16:creationId xmlns:a16="http://schemas.microsoft.com/office/drawing/2014/main" id="{3F49F123-E8B8-40BC-9C5D-455F3B3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1. Проявление отказа</a:t>
            </a:r>
          </a:p>
        </p:txBody>
      </p:sp>
      <p:sp>
        <p:nvSpPr>
          <p:cNvPr id="4" name="Когда возникает отказ и какие команды его вызывают">
            <a:extLst xmlns:a="http://schemas.openxmlformats.org/drawingml/2006/main">
              <a:ext uri="{FF2B5EF4-FFF2-40B4-BE49-F238E27FC236}">
                <a16:creationId xmlns:a16="http://schemas.microsoft.com/office/drawing/2014/main" id="{CF176343-3813-42C7-B844-64A33C87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7162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Когда возникает отказ и какие команды его вызывают?</a:t>
            </a:r>
          </a:p>
        </p:txBody>
      </p:sp>
      <p:sp>
        <p:nvSpPr>
          <p:cNvPr id="5" name="2. Схема и паспорт">
            <a:extLst xmlns:a="http://schemas.openxmlformats.org/drawingml/2006/main">
              <a:ext uri="{FF2B5EF4-FFF2-40B4-BE49-F238E27FC236}">
                <a16:creationId xmlns:a16="http://schemas.microsoft.com/office/drawing/2014/main" id="{CDD28AE0-FA64-4EB5-B5C5-89162557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2. Схема и паспорт</a:t>
            </a:r>
          </a:p>
        </p:txBody>
      </p:sp>
      <p:sp>
        <p:nvSpPr>
          <p:cNvPr id="6" name="Напряжение катушки, нагрузка, подключения и блокир">
            <a:extLst xmlns:a="http://schemas.openxmlformats.org/drawingml/2006/main">
              <a:ext uri="{FF2B5EF4-FFF2-40B4-BE49-F238E27FC236}">
                <a16:creationId xmlns:a16="http://schemas.microsoft.com/office/drawing/2014/main" id="{B1CD4770-B187-4BAD-B15A-9639867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3842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Напряжение катушки, нагрузка, подключения и блокировки.</a:t>
            </a:r>
          </a:p>
        </p:txBody>
      </p:sp>
      <p:sp>
        <p:nvSpPr>
          <p:cNvPr id="7" name="3. Осмотр и измерения">
            <a:extLst xmlns:a="http://schemas.openxmlformats.org/drawingml/2006/main">
              <a:ext uri="{FF2B5EF4-FFF2-40B4-BE49-F238E27FC236}">
                <a16:creationId xmlns:a16="http://schemas.microsoft.com/office/drawing/2014/main" id="{0A1630DB-E900-4FE0-A7B9-6EF3EFE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3. Осмотр и измерения</a:t>
            </a:r>
          </a:p>
        </p:txBody>
      </p:sp>
      <p:sp>
        <p:nvSpPr>
          <p:cNvPr id="8" name="Сначала состояние аппарата и цепей при снятом напр">
            <a:extLst xmlns:a="http://schemas.openxmlformats.org/drawingml/2006/main">
              <a:ext uri="{FF2B5EF4-FFF2-40B4-BE49-F238E27FC236}">
                <a16:creationId xmlns:a16="http://schemas.microsoft.com/office/drawing/2014/main" id="{8B9304B7-8BC9-4E4A-BF14-A781BE88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0522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Сначала состояние аппарата и цепей при снятом напряжении.</a:t>
            </a:r>
          </a:p>
        </p:txBody>
      </p:sp>
      <p:sp>
        <p:nvSpPr>
          <p:cNvPr id="9" name="4. Устранение и проверка">
            <a:extLst xmlns:a="http://schemas.openxmlformats.org/drawingml/2006/main">
              <a:ext uri="{FF2B5EF4-FFF2-40B4-BE49-F238E27FC236}">
                <a16:creationId xmlns:a16="http://schemas.microsoft.com/office/drawing/2014/main" id="{EC483A69-B418-45E5-BDF9-9D780FE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4. Устранение и проверка</a:t>
            </a:r>
          </a:p>
        </p:txBody>
      </p:sp>
      <p:sp>
        <p:nvSpPr>
          <p:cNvPr id="10" name="Восстановление цепи или замена с проверкой работы ">
            <a:extLst xmlns:a="http://schemas.openxmlformats.org/drawingml/2006/main">
              <a:ext uri="{FF2B5EF4-FFF2-40B4-BE49-F238E27FC236}">
                <a16:creationId xmlns:a16="http://schemas.microsoft.com/office/drawing/2014/main" id="{5252A3E9-2B4B-49FC-A9EA-D158686E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72025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Восстановление цепи или замена с проверкой работы в схеме.</a:t>
            </a:r>
          </a:p>
        </p:txBody>
      </p:sp>
      <p:sp>
        <p:nvSpPr>
          <p:cNvPr id="11" name="До осмотра отключают питание, исключают ошибочное ">
            <a:extLst xmlns:a="http://schemas.openxmlformats.org/drawingml/2006/main">
              <a:ext uri="{FF2B5EF4-FFF2-40B4-BE49-F238E27FC236}">
                <a16:creationId xmlns:a16="http://schemas.microsoft.com/office/drawing/2014/main" id="{3847F64C-B2CF-418A-9EBD-18C46816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293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До осмотра отключают питание, исключают ошибочное включение и проверяют отсутствие напряжения.</a:t>
            </a:r>
          </a:p>
        </p:txBody>
      </p:sp>
    </p:spTree>
    <p:extLst>
      <p:ext uri="{BB962C8B-B14F-4D97-AF65-F5344CB8AC3E}">
        <p14:creationId xmlns:p14="http://schemas.microsoft.com/office/powerpoint/2010/main" val="11083595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Испытания и наладка после ремонта">
            <a:extLst xmlns:a="http://schemas.openxmlformats.org/drawingml/2006/main">
              <a:ext uri="{FF2B5EF4-FFF2-40B4-BE49-F238E27FC236}">
                <a16:creationId xmlns:a16="http://schemas.microsoft.com/office/drawing/2014/main" id="{65C3DEC2-26EA-4394-9F3D-F97EB8CB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Испытания и наладка после ремонта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AE08D540-B16D-4F0E-A6BA-49B81AE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Испытания">
            <a:extLst xmlns:a="http://schemas.openxmlformats.org/drawingml/2006/main">
              <a:ext uri="{FF2B5EF4-FFF2-40B4-BE49-F238E27FC236}">
                <a16:creationId xmlns:a16="http://schemas.microsoft.com/office/drawing/2014/main" id="{B497888F-6CD0-47FF-9E88-D0D3C71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Испытания</a:t>
            </a:r>
          </a:p>
        </p:txBody>
      </p:sp>
      <p:sp>
        <p:nvSpPr>
          <p:cNvPr id="4" name="Механическая работа и состояние контактов.&#10;&#10;Изоляц">
            <a:extLst xmlns:a="http://schemas.openxmlformats.org/drawingml/2006/main">
              <a:ext uri="{FF2B5EF4-FFF2-40B4-BE49-F238E27FC236}">
                <a16:creationId xmlns:a16="http://schemas.microsoft.com/office/drawing/2014/main" id="{A85FF5CA-506F-4686-8B36-55C890F1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Механическая работа и состояние контактов.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Изоляция и электрические параметры по методике изготовителя.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Защитные характеристики выключателя на испытательном оборудовании.</a:t>
            </a:r>
          </a:p>
        </p:txBody>
      </p:sp>
      <p:sp>
        <p:nvSpPr>
          <p:cNvPr id="5" name="Наладка">
            <a:extLst xmlns:a="http://schemas.openxmlformats.org/drawingml/2006/main">
              <a:ext uri="{FF2B5EF4-FFF2-40B4-BE49-F238E27FC236}">
                <a16:creationId xmlns:a16="http://schemas.microsoft.com/office/drawing/2014/main" id="{65578DDA-53FF-488D-BF6E-BD6FC70B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472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94721"/>
                </a:solidFill>
                <a:latin typeface="Arial"/>
                <a:ea typeface="Arial"/>
                <a:cs typeface="Arial"/>
              </a:rPr>
              <a:t>Наладка</a:t>
            </a:r>
          </a:p>
        </p:txBody>
      </p:sp>
      <p:sp>
        <p:nvSpPr>
          <p:cNvPr id="6" name="Проверка включения и отключения в составе схемы.&#10;&#10;">
            <a:extLst xmlns:a="http://schemas.openxmlformats.org/drawingml/2006/main">
              <a:ext uri="{FF2B5EF4-FFF2-40B4-BE49-F238E27FC236}">
                <a16:creationId xmlns:a16="http://schemas.microsoft.com/office/drawing/2014/main" id="{E7B1F286-EE6F-4E55-8195-489101D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7170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Проверка включения и отключения в составе схемы.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Проверка блокировок и последовательности работы.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Настройка предусмотренных уставок и оформление результатов.</a:t>
            </a:r>
          </a:p>
        </p:txBody>
      </p:sp>
      <p:sp>
        <p:nvSpPr>
          <p:cNvPr id="7" name="Проверка механизма расцепления не подтверждает ток">
            <a:extLst xmlns:a="http://schemas.openxmlformats.org/drawingml/2006/main">
              <a:ext uri="{FF2B5EF4-FFF2-40B4-BE49-F238E27FC236}">
                <a16:creationId xmlns:a16="http://schemas.microsoft.com/office/drawing/2014/main" id="{5DB91D22-C9D0-43C7-82AD-1DD8BCBD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Проверка механизма расцепления не подтверждает токовые характеристики защиты.</a:t>
            </a:r>
          </a:p>
        </p:txBody>
      </p:sp>
    </p:spTree>
    <p:extLst>
      <p:ext uri="{BB962C8B-B14F-4D97-AF65-F5344CB8AC3E}">
        <p14:creationId xmlns:p14="http://schemas.microsoft.com/office/powerpoint/2010/main" val="8329874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Вопросы для обсуждения">
            <a:extLst xmlns:a="http://schemas.openxmlformats.org/drawingml/2006/main">
              <a:ext uri="{FF2B5EF4-FFF2-40B4-BE49-F238E27FC236}">
                <a16:creationId xmlns:a16="http://schemas.microsoft.com/office/drawing/2014/main" id="{6E20485B-DF14-41A4-A551-EF5D1675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43B"/>
                </a:solidFill>
                <a:latin typeface="Arial"/>
                <a:ea typeface="Arial"/>
                <a:cs typeface="Arial"/>
              </a:rPr>
              <a:t>Вопросы для обсуждения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49EA39BD-4E0A-4524-ABFE-A840CB7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817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A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A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1. Какие повреждения можно определить при осмотре?">
            <a:extLst xmlns:a="http://schemas.openxmlformats.org/drawingml/2006/main">
              <a:ext uri="{FF2B5EF4-FFF2-40B4-BE49-F238E27FC236}">
                <a16:creationId xmlns:a16="http://schemas.microsoft.com/office/drawing/2014/main" id="{67DE9696-F2F1-4CBA-AB5D-FF27FC77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53E44"/>
                </a:solidFill>
                <a:latin typeface="Arial"/>
                <a:ea typeface="Arial"/>
                <a:cs typeface="Arial"/>
              </a:rPr>
              <a:t>1. Какие повреждения можно определить при осмотре?</a:t>
            </a:r>
          </a:p>
        </p:txBody>
      </p:sp>
      <p:sp>
        <p:nvSpPr>
          <p:cNvPr id="4" name="2. Почему замена аппарата без устранения причины м">
            <a:extLst xmlns:a="http://schemas.openxmlformats.org/drawingml/2006/main">
              <a:ext uri="{FF2B5EF4-FFF2-40B4-BE49-F238E27FC236}">
                <a16:creationId xmlns:a16="http://schemas.microsoft.com/office/drawing/2014/main" id="{109C0CA9-6637-44F6-9E28-EBC7707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2. Почему замена аппарата без устранения причины может привести к повторному отказу?</a:t>
            </a:r>
          </a:p>
        </p:txBody>
      </p:sp>
      <p:sp>
        <p:nvSpPr>
          <p:cNvPr id="5" name="3. Чем отличается повреждение катушки от неисправн">
            <a:extLst xmlns:a="http://schemas.openxmlformats.org/drawingml/2006/main">
              <a:ext uri="{FF2B5EF4-FFF2-40B4-BE49-F238E27FC236}">
                <a16:creationId xmlns:a16="http://schemas.microsoft.com/office/drawing/2014/main" id="{A9B05437-EAE1-4E69-ACA4-18F1D7D2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3. Чем отличается повреждение катушки от неисправности цепи её питания?</a:t>
            </a:r>
          </a:p>
        </p:txBody>
      </p:sp>
      <p:sp>
        <p:nvSpPr>
          <p:cNvPr id="6" name="4. Какие проверки необходимы после ремонта или зам">
            <a:extLst xmlns:a="http://schemas.openxmlformats.org/drawingml/2006/main">
              <a:ext uri="{FF2B5EF4-FFF2-40B4-BE49-F238E27FC236}">
                <a16:creationId xmlns:a16="http://schemas.microsoft.com/office/drawing/2014/main" id="{2710EDE8-3E3C-4D5E-9012-0EDDFB87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53E44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53E44"/>
                </a:solidFill>
                <a:latin typeface="Arial"/>
                <a:ea typeface="Arial"/>
                <a:cs typeface="Arial"/>
              </a:rPr>
              <a:t>4. Какие проверки необходимы после ремонта или замены?</a:t>
            </a:r>
          </a:p>
        </p:txBody>
      </p:sp>
    </p:spTree>
    <p:extLst>
      <p:ext uri="{BB962C8B-B14F-4D97-AF65-F5344CB8AC3E}">
        <p14:creationId xmlns:p14="http://schemas.microsoft.com/office/powerpoint/2010/main" val="880256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2026-10-27T20:04:18.2010000Z</dcterms:created>
  <dcterms:modified xsi:type="dcterms:W3CDTF">2026-10-27T20:04:18.2010000Z</dcterms:modified>
</coreProperties>
</file>