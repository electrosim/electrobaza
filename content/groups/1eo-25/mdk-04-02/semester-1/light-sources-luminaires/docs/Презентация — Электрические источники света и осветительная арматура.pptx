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5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Вводный слайд: тема, назначение источников света и осветительной арматуры.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Пять характеристик: световой поток, отдача, цветовая температура, CRI, срок службы.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группы: тепловые, газоразрядные, светодиодные.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Принцип, балласт и основные типы газоразрядных ламп.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Сравнение преимуществ и ограничений газоразрядных ламп.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Устройство LED-лампы и её преимущества/ограничения.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Функции арматуры и устройство светильника.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Четыре критерия выбора: IP, светораспределение, защитный угол, исполнение.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Виды промышленного освещения: рабочее, аварийное, охранное/переносное.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Выбор исполнения для пыли, влаги, химии, взрывоопасных зон, температуры и вибрации.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Пять итоговых тезисов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Шесть вопросов для закрепления материала.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51560"/>
            <a:ext cx="109728" cy="306324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005840"/>
            <a:ext cx="6217920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Электрические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источники света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2743200"/>
            <a:ext cx="585216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C5E3D1"/>
                </a:solidFill>
                <a:latin typeface="Segoe UI"/>
              </a:rPr>
              <a:t>Осветительная арматура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C5E3D1"/>
                </a:solidFill>
                <a:latin typeface="Segoe UI"/>
              </a:rPr>
              <a:t>и промышленное применение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989320"/>
            <a:ext cx="5943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FB8A8"/>
                </a:solidFill>
                <a:latin typeface="Segoe UI"/>
              </a:rPr>
              <a:t>Учебная презентация · 1ЭО-25 · МДК 04.02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325880"/>
            <a:ext cx="4754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dustrial-ligh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1435607"/>
            <a:ext cx="4480560" cy="23836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59" y="4526279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F63"/>
                </a:solidFill>
                <a:latin typeface="Segoe UI"/>
              </a:rPr>
              <a:t>Промышленное освещение цеха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Что важно знать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C6F63"/>
                </a:solidFill>
                <a:latin typeface="Segoe UI"/>
              </a:rPr>
              <a:t>Источник света характеризуют не только мощностью.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7D5A"/>
                </a:solidFill>
                <a:latin typeface="Segoe UI"/>
              </a:rPr>
              <a:t>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0604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3D2D"/>
                </a:solidFill>
                <a:latin typeface="Segoe UI"/>
              </a:rPr>
              <a:t>Световой поток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246120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C6F63"/>
                </a:solidFill>
                <a:latin typeface="Segoe UI"/>
              </a:rPr>
              <a:t>люмены, лм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749039"/>
            <a:ext cx="1737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общее количество света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4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7D5A"/>
                </a:solidFill>
                <a:latin typeface="Segoe UI"/>
              </a:rPr>
              <a:t>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60604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3D2D"/>
                </a:solidFill>
                <a:latin typeface="Segoe UI"/>
              </a:rPr>
              <a:t>Световая отдача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3246120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C6F63"/>
                </a:solidFill>
                <a:latin typeface="Segoe UI"/>
              </a:rPr>
              <a:t>лм на ватт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749039"/>
            <a:ext cx="1737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экономичность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82880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1224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7D5A"/>
                </a:solidFill>
                <a:latin typeface="Segoe UI"/>
              </a:rPr>
              <a:t>Tц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60604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3D2D"/>
                </a:solidFill>
                <a:latin typeface="Segoe UI"/>
              </a:rPr>
              <a:t>Цветовая температура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246120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C6F63"/>
                </a:solidFill>
                <a:latin typeface="Segoe UI"/>
              </a:rPr>
              <a:t>кельвины, 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749039"/>
            <a:ext cx="1737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оттенок белого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82880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1504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7D5A"/>
                </a:solidFill>
                <a:latin typeface="Segoe UI"/>
              </a:rPr>
              <a:t>CRI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60604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3D2D"/>
                </a:solidFill>
                <a:latin typeface="Segoe UI"/>
              </a:rPr>
              <a:t>Цветопередача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3246120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C6F63"/>
                </a:solidFill>
                <a:latin typeface="Segoe UI"/>
              </a:rPr>
              <a:t>индекс 0–100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749039"/>
            <a:ext cx="1737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естественность цветов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1828800"/>
            <a:ext cx="2057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01784" y="1993392"/>
            <a:ext cx="1737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7D5A"/>
                </a:solidFill>
                <a:latin typeface="Segoe UI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2606040"/>
            <a:ext cx="17373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3D2D"/>
                </a:solidFill>
                <a:latin typeface="Segoe UI"/>
              </a:rPr>
              <a:t>Срок службы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3246120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C6F63"/>
                </a:solidFill>
                <a:latin typeface="Segoe UI"/>
              </a:rPr>
              <a:t>часы работы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749039"/>
            <a:ext cx="1737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до спада потока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40680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C6F63"/>
                </a:solidFill>
                <a:latin typeface="Segoe UI"/>
              </a:rPr>
              <a:t>Для промышленного освещения важны также пульсация, спектр и стабильность при нагреве.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Три группы источников света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D5A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C3D2D"/>
                </a:solidFill>
                <a:latin typeface="Segoe UI"/>
              </a:rPr>
              <a:t>Тепловые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17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C6F63"/>
                </a:solidFill>
                <a:latin typeface="Segoe UI"/>
              </a:rPr>
              <a:t>Лампа накаливания,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C6F63"/>
                </a:solidFill>
                <a:latin typeface="Segoe UI"/>
              </a:rPr>
              <a:t>галогенная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301752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2B3A31"/>
                </a:solidFill>
                <a:latin typeface="Segoe UI"/>
              </a:rPr>
              <a:t>Нагрев нити. Просты, но низкий КПД и сильный нагрев.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4290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57276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26A00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C3D2D"/>
                </a:solidFill>
                <a:latin typeface="Segoe UI"/>
              </a:rPr>
              <a:t>Газоразрядные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017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C6F63"/>
                </a:solidFill>
                <a:latin typeface="Segoe UI"/>
              </a:rPr>
              <a:t>Люминесцентные, ДРЛ,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C6F63"/>
                </a:solidFill>
                <a:latin typeface="Segoe UI"/>
              </a:rPr>
              <a:t>ДНаТ, металлогалогенные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91840"/>
            <a:ext cx="301752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2B3A31"/>
                </a:solidFill>
                <a:latin typeface="Segoe UI"/>
              </a:rPr>
              <a:t>Разряд в газе. Экономичнее, нужен балласт.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290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57276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F7D5A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874519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C3D2D"/>
                </a:solidFill>
                <a:latin typeface="Segoe UI"/>
              </a:rPr>
              <a:t>Светодиодные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377440"/>
            <a:ext cx="3017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C6F63"/>
                </a:solidFill>
                <a:latin typeface="Segoe UI"/>
              </a:rPr>
              <a:t>LED-модули,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C6F63"/>
                </a:solidFill>
                <a:latin typeface="Segoe UI"/>
              </a:rPr>
              <a:t>светильники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291840"/>
            <a:ext cx="301752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2B3A31"/>
                </a:solidFill>
                <a:latin typeface="Segoe UI"/>
              </a:rPr>
              <a:t>p-n переход. Экономичны, нужен драйвер и теплоотвод.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C6F63"/>
                </a:solidFill>
                <a:latin typeface="Segoe UI"/>
              </a:rPr>
              <a:t>Выбор зависит от задачи, среды и требований к качеству света.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Газоразрядные лампы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949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luorescent-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344168"/>
            <a:ext cx="6675120" cy="27952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709160"/>
            <a:ext cx="676655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F63"/>
                </a:solidFill>
                <a:latin typeface="Segoe UI"/>
              </a:rPr>
              <a:t>Схема с дросселем и стартером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325880"/>
            <a:ext cx="3886200" cy="45720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350">
                <a:solidFill>
                  <a:srgbClr val="2B3A31"/>
                </a:solidFill>
                <a:latin typeface="Segoe UI"/>
              </a:rPr>
              <a:t>•  Свет возникает при разряде в газе или парах металла.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350">
                <a:solidFill>
                  <a:srgbClr val="2B3A31"/>
                </a:solidFill>
                <a:latin typeface="Segoe UI"/>
              </a:rPr>
              <a:t>•  Нужна пускорегулирующая аппаратура: дроссель, стартер, ЭПРА.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350">
                <a:solidFill>
                  <a:srgbClr val="2B3A31"/>
                </a:solidFill>
                <a:latin typeface="Segoe UI"/>
              </a:rPr>
              <a:t>•  Типы: люминесцентные, ДРЛ, ДНаТ, металлогалогенные.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350">
                <a:solidFill>
                  <a:srgbClr val="2B3A31"/>
                </a:solidFill>
                <a:latin typeface="Segoe UI"/>
              </a:rPr>
              <a:t>•  Минусы: время разгорания, чувствительность к температуре, ртуть и утилизация.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Газоразрядные: плюсы и минусы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347472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5A"/>
                </a:solidFill>
                <a:latin typeface="Segoe UI"/>
              </a:rPr>
              <a:t>Плюсы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2560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Высокая световая отдача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Большой срок службы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Отработанные технологии и доступность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Подходят для больших помещений и улиц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Высокая яркость на большой площади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347472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8463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3261E"/>
                </a:solidFill>
                <a:latin typeface="Segoe UI"/>
              </a:rP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754880" cy="2560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Нужен балласт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Время выхода на режим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Чувствительность к температуре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Ртуть и специальная утилизация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>
                <a:solidFill>
                  <a:srgbClr val="2B3A31"/>
                </a:solidFill>
                <a:latin typeface="Segoe UI"/>
              </a:rPr>
              <a:t>•  Не любят частые включения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66360"/>
            <a:ext cx="10972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C6F63"/>
                </a:solidFill>
                <a:latin typeface="Segoe UI"/>
              </a:rPr>
              <a:t>Для офисов — люминесцентные, для цехов и улиц — ДРЛ и ДНаТ.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Светодиодные источники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ed-l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344168"/>
            <a:ext cx="5394960" cy="30331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40679"/>
            <a:ext cx="5486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F63"/>
                </a:solidFill>
                <a:latin typeface="Segoe UI"/>
              </a:rPr>
              <a:t>Устройство LED-лампы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45720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Свет создаётся на p-n-переходе; в светильнике — сборка кристаллов.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Драйвер стабилизирует ток, радиатор отводит тепло.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Плюсы: экономия, срок службы, мгновенный пуск, диммирование.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Минусы: цена, нагрев, качество драйвера и спектра.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Осветительная арматура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676656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ed-lumin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98448"/>
            <a:ext cx="6492240" cy="3796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77840"/>
            <a:ext cx="6583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F63"/>
                </a:solidFill>
                <a:latin typeface="Segoe UI"/>
              </a:rPr>
              <a:t>Светильник с драйвером DALI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4023360" cy="45720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Перераспределяет световой поток.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Защищает лампу от пыли, влаги и повреждений.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Обеспечивает крепление и подключение.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Формирует светораспределение и защитный угол.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257800"/>
            <a:ext cx="39319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7D5A"/>
                </a:solidFill>
                <a:latin typeface="Segoe UI"/>
              </a:rPr>
              <a:t>Светильник = источник света + арматура.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Как выбрать светильник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731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5A"/>
                </a:solidFill>
                <a:latin typeface="Segoe UI"/>
              </a:rPr>
              <a:t>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54480"/>
            <a:ext cx="4114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3D2D"/>
                </a:solidFill>
                <a:latin typeface="Segoe UI"/>
              </a:rPr>
              <a:t>Степень защиты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4114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Пыль и влага: IP20, IP54, IP65 и выше.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4114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IP20 — сухие; IP54 — брызги; IP65 — струи.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731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5A"/>
                </a:solidFill>
                <a:latin typeface="Segoe UI"/>
              </a:rPr>
              <a:t>Свет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54480"/>
            <a:ext cx="4114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3D2D"/>
                </a:solidFill>
                <a:latin typeface="Segoe UI"/>
              </a:rPr>
              <a:t>Светораспределение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4114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Прямое, рассеянное, отражённое; кривая силы света.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404872"/>
            <a:ext cx="4114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Прямой — цеха; рассеянный — офисы.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47872"/>
            <a:ext cx="731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5A"/>
                </a:solidFill>
                <a:latin typeface="Segoe UI"/>
              </a:rPr>
              <a:t>Угол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20440"/>
            <a:ext cx="4114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3D2D"/>
                </a:solidFill>
                <a:latin typeface="Segoe UI"/>
              </a:rPr>
              <a:t>Защитный угол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86200"/>
            <a:ext cx="4114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Комфорт и ограничение слепящего действия.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70832"/>
            <a:ext cx="4114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Больше угол — меньше слепит.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547872"/>
            <a:ext cx="731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5A"/>
                </a:solidFill>
                <a:latin typeface="Segoe UI"/>
              </a:rPr>
              <a:t>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20440"/>
            <a:ext cx="4114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3D2D"/>
                </a:solidFill>
                <a:latin typeface="Segoe UI"/>
              </a:rPr>
              <a:t>Исполнение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886200"/>
            <a:ext cx="4114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Обычное, пылевлагозащищённое, взрывозащищённое.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370832"/>
            <a:ext cx="4114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C6F63"/>
                </a:solidFill>
                <a:latin typeface="Segoe UI"/>
              </a:rPr>
              <a:t>Ex — только по маркировке и классу зоны.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Промышленное освещение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34440"/>
            <a:ext cx="507492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dustrial-ligh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44168"/>
            <a:ext cx="4800600" cy="25539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4480560"/>
            <a:ext cx="4892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F63"/>
                </a:solidFill>
                <a:latin typeface="Segoe UI"/>
              </a:rPr>
              <a:t>Освещение производственного цеха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426464"/>
            <a:ext cx="5120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D5A"/>
                </a:solidFill>
                <a:latin typeface="Segoe UI"/>
              </a:rPr>
              <a:t>Рабочее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1206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Нормируемая освещённость, равномерность, ограничение пульсации.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5176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5120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B26A00"/>
                </a:solidFill>
                <a:latin typeface="Segoe UI"/>
              </a:rPr>
              <a:t>Аварийное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1206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Эвакуационное и резервное; независимое питание и отличимые светильники.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5120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D5A"/>
                </a:solidFill>
                <a:latin typeface="Segoe UI"/>
              </a:rPr>
              <a:t>Охранное и переносное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51206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3A31"/>
                </a:solidFill>
                <a:latin typeface="Segoe UI"/>
              </a:rPr>
              <a:t>Периметр территории и временные работы.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Особые условия среды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66928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xplosion-proof-lumina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344168"/>
            <a:ext cx="5394960" cy="2637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480560"/>
            <a:ext cx="5486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F63"/>
                </a:solidFill>
                <a:latin typeface="Segoe UI"/>
              </a:rPr>
              <a:t>Взрывозащищённые светильники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45720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Пыль и влага — соответствующая степень IP.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Химически активная среда — стойкие материалы.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Взрывоопасная зона — только Ex-исполнение.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400">
                <a:solidFill>
                  <a:srgbClr val="2B3A31"/>
                </a:solidFill>
                <a:latin typeface="Segoe UI"/>
              </a:rPr>
              <a:t>•  Высокая температура и вибрация — усиленная конструкция.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983480"/>
            <a:ext cx="49377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B3261E"/>
                </a:solidFill>
                <a:latin typeface="Segoe UI"/>
              </a:rPr>
              <a:t>Нельзя ставить более мощную лампу и снимать защитные стёкла.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7D5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08176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B3A31"/>
                </a:solidFill>
                <a:latin typeface="Segoe UI"/>
              </a:rPr>
              <a:t>Источники различаются по принципу, отдаче, сроку службы и подключению.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76856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7D5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49424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B3A31"/>
                </a:solidFill>
                <a:latin typeface="Segoe UI"/>
              </a:rPr>
              <a:t>Газоразрядные лампы экономичны, но требуют балласта и времени на разгорание.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5409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18103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7D5A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90672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B3A31"/>
                </a:solidFill>
                <a:latin typeface="Segoe UI"/>
              </a:rPr>
              <a:t>LED-светильники экономичны, но требуют драйвера и отвода тепла.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953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7D5A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B3A31"/>
                </a:solidFill>
                <a:latin typeface="Segoe UI"/>
              </a:rPr>
              <a:t>Арматура отвечает за безопасность, защиту среды и распределение света.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3659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7D5A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73168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B3A31"/>
                </a:solidFill>
                <a:latin typeface="Segoe UI"/>
              </a:rPr>
              <a:t>Для промышленности важны IP, Ex-исполнение и вид освещения.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1C3D2D"/>
                </a:solidFill>
                <a:latin typeface="Segoe UI"/>
              </a:rPr>
              <a:t>Правильный выбор источника и светильника — это безопасность, экономия и качественный свет.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C3D2D"/>
                </a:solidFill>
                <a:latin typeface="Segoe UI"/>
              </a:rPr>
              <a:t>Вопросы для самопроверки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05840" cy="50292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F63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3"/>
                </a:solidFill>
                <a:latin typeface="Segoe UI"/>
              </a:rPr>
              <a:t>Электрические источники света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5A"/>
                </a:solidFill>
                <a:latin typeface="Segoe U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8463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A31"/>
                </a:solidFill>
                <a:latin typeface="Segoe UI"/>
              </a:rPr>
              <a:t>Чем тепловые источники отличаются от газоразрядных?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5A"/>
                </a:solidFill>
                <a:latin typeface="Segoe U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8463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A31"/>
                </a:solidFill>
                <a:latin typeface="Segoe UI"/>
              </a:rPr>
              <a:t>Зачем газоразрядной лампе нужна пускорегулирующая аппаратура?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5A"/>
                </a:solidFill>
                <a:latin typeface="Segoe U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48463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A31"/>
                </a:solidFill>
                <a:latin typeface="Segoe UI"/>
              </a:rPr>
              <a:t>Какие преимущества и ограничения у светодиодных светильников?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5A"/>
                </a:solidFill>
                <a:latin typeface="Segoe U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08760"/>
            <a:ext cx="48463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A31"/>
                </a:solidFill>
                <a:latin typeface="Segoe UI"/>
              </a:rPr>
              <a:t>Что входит в осветительную арматуру?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5A"/>
                </a:solidFill>
                <a:latin typeface="Segoe U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26080"/>
            <a:ext cx="48463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A31"/>
                </a:solidFill>
                <a:latin typeface="Segoe UI"/>
              </a:rPr>
              <a:t>Чем рабочее освещение отличается от аварийного?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4340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5A"/>
                </a:solidFill>
                <a:latin typeface="Segoe UI"/>
              </a:rP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343400"/>
            <a:ext cx="48463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A31"/>
                </a:solidFill>
                <a:latin typeface="Segoe UI"/>
              </a:rPr>
              <a:t>Почему в пыльном или взрывоопасном помещении нельзя ставить обычный светильник?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823</Words>
  <Application>Microsoft Office PowerPoint</Application>
  <PresentationFormat>Широкоэкранный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Черных Руслан</cp:lastModifiedBy>
  <cp:revision>1</cp:revision>
  <dcterms:created xsi:type="dcterms:W3CDTF">2013-01-27T09:14:16Z</dcterms:created>
  <dcterms:modified xsi:type="dcterms:W3CDTF">2026-10-19T18:27:37Z</dcterms:modified>
  <cp:category/>
</cp:coreProperties>
</file>